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0" d="100"/>
          <a:sy n="150"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1878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5D04"/>
          </a:solidFill>
          <a:ln/>
        </p:spPr>
      </p:sp>
      <p:sp>
        <p:nvSpPr>
          <p:cNvPr id="3" name="Text 1"/>
          <p:cNvSpPr/>
          <p:nvPr/>
        </p:nvSpPr>
        <p:spPr>
          <a:xfrm>
            <a:off x="548640" y="1188720"/>
            <a:ext cx="8046720" cy="320040"/>
          </a:xfrm>
          <a:prstGeom prst="rect">
            <a:avLst/>
          </a:prstGeom>
          <a:noFill/>
          <a:ln/>
        </p:spPr>
        <p:txBody>
          <a:bodyPr wrap="square" rtlCol="0" anchor="ctr"/>
          <a:lstStyle/>
          <a:p>
            <a:pPr marL="0" indent="0">
              <a:buNone/>
            </a:pPr>
            <a:r>
              <a:rPr lang="en-US" sz="1400" kern="0" spc="300" dirty="0">
                <a:solidFill>
                  <a:srgbClr val="6B7A8D"/>
                </a:solidFill>
                <a:latin typeface="Arial" pitchFamily="34" charset="0"/>
                <a:ea typeface="Arial" pitchFamily="34" charset="-122"/>
                <a:cs typeface="Arial" pitchFamily="34" charset="-120"/>
              </a:rPr>
              <a:t>學術演講心得報告</a:t>
            </a:r>
            <a:endParaRPr lang="en-US" sz="1400" dirty="0"/>
          </a:p>
        </p:txBody>
      </p:sp>
      <p:sp>
        <p:nvSpPr>
          <p:cNvPr id="4" name="Text 2"/>
          <p:cNvSpPr/>
          <p:nvPr/>
        </p:nvSpPr>
        <p:spPr>
          <a:xfrm>
            <a:off x="548640" y="1645920"/>
            <a:ext cx="8046720" cy="1371600"/>
          </a:xfrm>
          <a:prstGeom prst="rect">
            <a:avLst/>
          </a:prstGeom>
          <a:noFill/>
          <a:ln/>
        </p:spPr>
        <p:txBody>
          <a:bodyPr wrap="square" rtlCol="0" anchor="ctr"/>
          <a:lstStyle/>
          <a:p>
            <a:pPr marL="0" indent="0" algn="l">
              <a:buNone/>
            </a:pPr>
            <a:r>
              <a:rPr lang="en-US" sz="3200" b="1" dirty="0">
                <a:solidFill>
                  <a:srgbClr val="1A2332"/>
                </a:solidFill>
                <a:latin typeface="Arial" pitchFamily="34" charset="0"/>
                <a:ea typeface="Arial" pitchFamily="34" charset="-122"/>
                <a:cs typeface="Arial" pitchFamily="34" charset="-120"/>
              </a:rPr>
              <a:t>深度強化學習於多機器人系統</a:t>
            </a:r>
            <a:endParaRPr lang="en-US" sz="3200" dirty="0"/>
          </a:p>
          <a:p>
            <a:pPr marL="0" indent="0" algn="l">
              <a:buNone/>
            </a:pPr>
            <a:r>
              <a:rPr lang="en-US" sz="3200" b="1" dirty="0">
                <a:solidFill>
                  <a:srgbClr val="1A2332"/>
                </a:solidFill>
                <a:latin typeface="Arial" pitchFamily="34" charset="0"/>
                <a:ea typeface="Arial" pitchFamily="34" charset="-122"/>
                <a:cs typeface="Arial" pitchFamily="34" charset="-120"/>
              </a:rPr>
              <a:t>學習與控制</a:t>
            </a:r>
            <a:endParaRPr lang="en-US" sz="3200" dirty="0"/>
          </a:p>
        </p:txBody>
      </p:sp>
      <p:sp>
        <p:nvSpPr>
          <p:cNvPr id="5" name="Shape 3"/>
          <p:cNvSpPr/>
          <p:nvPr/>
        </p:nvSpPr>
        <p:spPr>
          <a:xfrm>
            <a:off x="457200" y="3200400"/>
            <a:ext cx="8229600" cy="13716"/>
          </a:xfrm>
          <a:prstGeom prst="rect">
            <a:avLst/>
          </a:prstGeom>
          <a:solidFill>
            <a:srgbClr val="E85D04"/>
          </a:solidFill>
          <a:ln/>
        </p:spPr>
      </p:sp>
      <p:sp>
        <p:nvSpPr>
          <p:cNvPr id="6" name="Text 4"/>
          <p:cNvSpPr/>
          <p:nvPr/>
        </p:nvSpPr>
        <p:spPr>
          <a:xfrm>
            <a:off x="548640" y="3296920"/>
            <a:ext cx="7772400" cy="1757680"/>
          </a:xfrm>
          <a:prstGeom prst="rect">
            <a:avLst/>
          </a:prstGeom>
          <a:noFill/>
          <a:ln/>
        </p:spPr>
        <p:txBody>
          <a:bodyPr wrap="square" rtlCol="0" anchor="ctr"/>
          <a:lstStyle/>
          <a:p>
            <a:pPr>
              <a:lnSpc>
                <a:spcPts val="2800"/>
              </a:lnSpc>
            </a:pPr>
            <a:r>
              <a:rPr lang="en-US" sz="1600" b="1" dirty="0" err="1">
                <a:solidFill>
                  <a:srgbClr val="3D4A5C"/>
                </a:solidFill>
                <a:latin typeface="Arial" pitchFamily="34" charset="0"/>
                <a:cs typeface="Arial" pitchFamily="34" charset="-120"/>
              </a:rPr>
              <a:t>講者：蔣惟丞</a:t>
            </a:r>
            <a:r>
              <a:rPr lang="en-US" sz="1600" b="1" dirty="0">
                <a:solidFill>
                  <a:srgbClr val="3D4A5C"/>
                </a:solidFill>
                <a:latin typeface="Arial" pitchFamily="34" charset="0"/>
                <a:cs typeface="Arial" pitchFamily="34" charset="-120"/>
              </a:rPr>
              <a:t> 教授　</a:t>
            </a:r>
            <a:r>
              <a:rPr lang="en-US" sz="1600" b="1" dirty="0" err="1">
                <a:solidFill>
                  <a:srgbClr val="3D4A5C"/>
                </a:solidFill>
                <a:latin typeface="Arial" pitchFamily="34" charset="0"/>
                <a:cs typeface="Arial" pitchFamily="34" charset="-120"/>
              </a:rPr>
              <a:t>國立中正大學</a:t>
            </a:r>
            <a:r>
              <a:rPr lang="en-US" sz="1600" b="1" dirty="0">
                <a:solidFill>
                  <a:srgbClr val="3D4A5C"/>
                </a:solidFill>
                <a:latin typeface="Arial" pitchFamily="34" charset="0"/>
                <a:cs typeface="Arial" pitchFamily="34" charset="-120"/>
              </a:rPr>
              <a:t> </a:t>
            </a:r>
            <a:r>
              <a:rPr lang="en-US" sz="1600" b="1" dirty="0" err="1">
                <a:solidFill>
                  <a:srgbClr val="3D4A5C"/>
                </a:solidFill>
                <a:latin typeface="Arial" pitchFamily="34" charset="0"/>
                <a:cs typeface="Arial" pitchFamily="34" charset="-120"/>
              </a:rPr>
              <a:t>電機工程學系</a:t>
            </a:r>
            <a:endParaRPr lang="en-US" sz="1600" b="1" dirty="0">
              <a:solidFill>
                <a:srgbClr val="3D4A5C"/>
              </a:solidFill>
              <a:latin typeface="Arial" pitchFamily="34" charset="0"/>
              <a:cs typeface="Arial" pitchFamily="34" charset="-120"/>
            </a:endParaRPr>
          </a:p>
          <a:p>
            <a:pPr>
              <a:lnSpc>
                <a:spcPts val="2800"/>
              </a:lnSpc>
            </a:pPr>
            <a:r>
              <a:rPr lang="en-US" sz="1600" b="1" dirty="0">
                <a:solidFill>
                  <a:srgbClr val="3D4A5C"/>
                </a:solidFill>
                <a:latin typeface="Arial" pitchFamily="34" charset="0"/>
                <a:cs typeface="Arial" pitchFamily="34" charset="-120"/>
              </a:rPr>
              <a:t>日期：2026年10月20日</a:t>
            </a:r>
          </a:p>
          <a:p>
            <a:pPr>
              <a:lnSpc>
                <a:spcPts val="2800"/>
              </a:lnSpc>
            </a:pPr>
            <a:r>
              <a:rPr lang="zh-TW" altLang="en-US" sz="1600" b="1" dirty="0">
                <a:solidFill>
                  <a:srgbClr val="3D4A5C"/>
                </a:solidFill>
                <a:latin typeface="Arial" pitchFamily="34" charset="0"/>
                <a:cs typeface="Arial" pitchFamily="34" charset="-120"/>
              </a:rPr>
              <a:t>學生</a:t>
            </a:r>
            <a:r>
              <a:rPr lang="en-US" sz="1600" b="1" dirty="0">
                <a:solidFill>
                  <a:srgbClr val="3D4A5C"/>
                </a:solidFill>
                <a:latin typeface="Arial" pitchFamily="34" charset="0"/>
                <a:cs typeface="Arial" pitchFamily="34" charset="-120"/>
              </a:rPr>
              <a:t>：</a:t>
            </a:r>
            <a:r>
              <a:rPr lang="zh-TW" altLang="en-US" sz="1600" b="1" dirty="0">
                <a:solidFill>
                  <a:srgbClr val="3D4A5C"/>
                </a:solidFill>
                <a:latin typeface="Arial" pitchFamily="34" charset="0"/>
                <a:cs typeface="Arial" pitchFamily="34" charset="-120"/>
              </a:rPr>
              <a:t>李定城</a:t>
            </a:r>
            <a:endParaRPr lang="en-US" altLang="zh-TW" sz="1600" b="1" dirty="0">
              <a:solidFill>
                <a:srgbClr val="3D4A5C"/>
              </a:solidFill>
              <a:latin typeface="Arial" pitchFamily="34" charset="0"/>
              <a:cs typeface="Arial" pitchFamily="34" charset="-120"/>
            </a:endParaRPr>
          </a:p>
          <a:p>
            <a:pPr>
              <a:lnSpc>
                <a:spcPts val="2800"/>
              </a:lnSpc>
            </a:pPr>
            <a:r>
              <a:rPr lang="zh-TW" altLang="en-US" sz="1600" b="1" dirty="0">
                <a:solidFill>
                  <a:srgbClr val="3D4A5C"/>
                </a:solidFill>
                <a:latin typeface="Arial" pitchFamily="34" charset="0"/>
                <a:cs typeface="Arial" pitchFamily="34" charset="-120"/>
              </a:rPr>
              <a:t>班級：碩資工一甲</a:t>
            </a:r>
            <a:endParaRPr lang="en-US" altLang="zh-TW" sz="1600" b="1" dirty="0">
              <a:solidFill>
                <a:srgbClr val="3D4A5C"/>
              </a:solidFill>
              <a:latin typeface="Arial" pitchFamily="34" charset="0"/>
              <a:cs typeface="Arial" pitchFamily="34" charset="-120"/>
            </a:endParaRPr>
          </a:p>
          <a:p>
            <a:pPr>
              <a:lnSpc>
                <a:spcPts val="2800"/>
              </a:lnSpc>
            </a:pPr>
            <a:r>
              <a:rPr lang="zh-TW" altLang="en-US" sz="1600" b="1" dirty="0">
                <a:solidFill>
                  <a:srgbClr val="3D4A5C"/>
                </a:solidFill>
                <a:latin typeface="Arial" pitchFamily="34" charset="0"/>
                <a:cs typeface="Arial" pitchFamily="34" charset="-120"/>
              </a:rPr>
              <a:t>學號：</a:t>
            </a:r>
            <a:r>
              <a:rPr lang="en-US" altLang="zh-TW" sz="1600" b="1" dirty="0">
                <a:solidFill>
                  <a:srgbClr val="3D4A5C"/>
                </a:solidFill>
                <a:latin typeface="Arial" pitchFamily="34" charset="0"/>
                <a:cs typeface="Arial" pitchFamily="34" charset="-120"/>
              </a:rPr>
              <a:t>11563112</a:t>
            </a:r>
            <a:endParaRPr lang="en-US" sz="1600" b="1" dirty="0">
              <a:solidFill>
                <a:srgbClr val="3D4A5C"/>
              </a:solidFill>
              <a:latin typeface="Arial" pitchFamily="34" charset="0"/>
              <a:cs typeface="Arial"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332"/>
          </a:solidFill>
          <a:ln/>
        </p:spPr>
      </p:sp>
      <p:sp>
        <p:nvSpPr>
          <p:cNvPr id="3" name="Text 1"/>
          <p:cNvSpPr/>
          <p:nvPr/>
        </p:nvSpPr>
        <p:spPr>
          <a:xfrm>
            <a:off x="457200" y="164592"/>
            <a:ext cx="6858000" cy="365760"/>
          </a:xfrm>
          <a:prstGeom prst="rect">
            <a:avLst/>
          </a:prstGeom>
          <a:noFill/>
          <a:ln/>
        </p:spPr>
        <p:txBody>
          <a:bodyPr wrap="square" rtlCol="0" anchor="ctr"/>
          <a:lstStyle/>
          <a:p>
            <a:pPr marL="0" indent="0">
              <a:buNone/>
            </a:pPr>
            <a:r>
              <a:rPr lang="zh-TW" altLang="en-US" sz="1800" b="1" dirty="0">
                <a:solidFill>
                  <a:srgbClr val="FFFFFF"/>
                </a:solidFill>
                <a:latin typeface="Arial" pitchFamily="34" charset="0"/>
                <a:ea typeface="Arial" pitchFamily="34" charset="-122"/>
                <a:cs typeface="Arial" pitchFamily="34" charset="-120"/>
              </a:rPr>
              <a:t>目錄</a:t>
            </a:r>
            <a:endParaRPr lang="en-US" sz="1800" dirty="0"/>
          </a:p>
        </p:txBody>
      </p:sp>
      <p:sp>
        <p:nvSpPr>
          <p:cNvPr id="4" name="Text 2"/>
          <p:cNvSpPr/>
          <p:nvPr/>
        </p:nvSpPr>
        <p:spPr>
          <a:xfrm>
            <a:off x="7772400" y="164592"/>
            <a:ext cx="914400" cy="365760"/>
          </a:xfrm>
          <a:prstGeom prst="rect">
            <a:avLst/>
          </a:prstGeom>
          <a:noFill/>
          <a:ln/>
        </p:spPr>
        <p:txBody>
          <a:bodyPr wrap="square" rtlCol="0" anchor="ctr"/>
          <a:lstStyle/>
          <a:p>
            <a:pPr marL="0" indent="0" algn="r">
              <a:buNone/>
            </a:pPr>
            <a:r>
              <a:rPr lang="en-US" sz="1400" dirty="0">
                <a:solidFill>
                  <a:srgbClr val="6B7A8D"/>
                </a:solidFill>
                <a:latin typeface="Arial" pitchFamily="34" charset="0"/>
                <a:ea typeface="Arial" pitchFamily="34" charset="-122"/>
                <a:cs typeface="Arial" pitchFamily="34" charset="-120"/>
              </a:rPr>
              <a:t>02</a:t>
            </a:r>
            <a:endParaRPr lang="en-US" sz="1400" dirty="0"/>
          </a:p>
        </p:txBody>
      </p:sp>
      <p:sp>
        <p:nvSpPr>
          <p:cNvPr id="5" name="Shape 3"/>
          <p:cNvSpPr/>
          <p:nvPr/>
        </p:nvSpPr>
        <p:spPr>
          <a:xfrm>
            <a:off x="457200" y="1005840"/>
            <a:ext cx="640080" cy="457200"/>
          </a:xfrm>
          <a:prstGeom prst="roundRect">
            <a:avLst>
              <a:gd name="adj" fmla="val 16000"/>
            </a:avLst>
          </a:prstGeom>
          <a:solidFill>
            <a:srgbClr val="E85D04"/>
          </a:solidFill>
          <a:ln/>
        </p:spPr>
      </p:sp>
      <p:sp>
        <p:nvSpPr>
          <p:cNvPr id="6" name="Text 4"/>
          <p:cNvSpPr/>
          <p:nvPr/>
        </p:nvSpPr>
        <p:spPr>
          <a:xfrm>
            <a:off x="457200" y="1005840"/>
            <a:ext cx="64008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7" name="Text 5"/>
          <p:cNvSpPr/>
          <p:nvPr/>
        </p:nvSpPr>
        <p:spPr>
          <a:xfrm>
            <a:off x="1280160" y="1097280"/>
            <a:ext cx="4572000" cy="274320"/>
          </a:xfrm>
          <a:prstGeom prst="rect">
            <a:avLst/>
          </a:prstGeom>
          <a:noFill/>
          <a:ln/>
        </p:spPr>
        <p:txBody>
          <a:bodyPr wrap="square" rtlCol="0" anchor="ctr"/>
          <a:lstStyle/>
          <a:p>
            <a:pPr marL="0" indent="0">
              <a:buNone/>
            </a:pPr>
            <a:r>
              <a:rPr lang="en-US" sz="1600" b="1" dirty="0" err="1">
                <a:solidFill>
                  <a:srgbClr val="1A2332"/>
                </a:solidFill>
                <a:latin typeface="Arial" pitchFamily="34" charset="0"/>
                <a:ea typeface="Arial" pitchFamily="34" charset="-122"/>
                <a:cs typeface="Arial" pitchFamily="34" charset="-120"/>
              </a:rPr>
              <a:t>簡介</a:t>
            </a:r>
            <a:endParaRPr lang="en-US" sz="1600" dirty="0"/>
          </a:p>
        </p:txBody>
      </p:sp>
      <p:sp>
        <p:nvSpPr>
          <p:cNvPr id="9" name="Shape 7"/>
          <p:cNvSpPr/>
          <p:nvPr/>
        </p:nvSpPr>
        <p:spPr>
          <a:xfrm>
            <a:off x="457200" y="1645920"/>
            <a:ext cx="640080" cy="457200"/>
          </a:xfrm>
          <a:prstGeom prst="roundRect">
            <a:avLst>
              <a:gd name="adj" fmla="val 16000"/>
            </a:avLst>
          </a:prstGeom>
          <a:solidFill>
            <a:srgbClr val="1E5FFF"/>
          </a:solidFill>
          <a:ln/>
        </p:spPr>
      </p:sp>
      <p:sp>
        <p:nvSpPr>
          <p:cNvPr id="10" name="Text 8"/>
          <p:cNvSpPr/>
          <p:nvPr/>
        </p:nvSpPr>
        <p:spPr>
          <a:xfrm>
            <a:off x="457200" y="1645920"/>
            <a:ext cx="64008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1" name="Text 9"/>
          <p:cNvSpPr/>
          <p:nvPr/>
        </p:nvSpPr>
        <p:spPr>
          <a:xfrm>
            <a:off x="1280160" y="1700784"/>
            <a:ext cx="4572000" cy="274320"/>
          </a:xfrm>
          <a:prstGeom prst="rect">
            <a:avLst/>
          </a:prstGeom>
          <a:noFill/>
          <a:ln/>
        </p:spPr>
        <p:txBody>
          <a:bodyPr wrap="square" rtlCol="0" anchor="ctr"/>
          <a:lstStyle/>
          <a:p>
            <a:pPr marL="0" indent="0">
              <a:buNone/>
            </a:pPr>
            <a:r>
              <a:rPr lang="zh-TW" altLang="en-US" sz="1600" b="1" dirty="0">
                <a:solidFill>
                  <a:srgbClr val="1A2332"/>
                </a:solidFill>
                <a:latin typeface="Arial" pitchFamily="34" charset="0"/>
                <a:ea typeface="Arial" pitchFamily="34" charset="-122"/>
                <a:cs typeface="Arial" pitchFamily="34" charset="-120"/>
              </a:rPr>
              <a:t>相關技術說明</a:t>
            </a:r>
            <a:endParaRPr lang="en-US" sz="1600" dirty="0"/>
          </a:p>
        </p:txBody>
      </p:sp>
      <p:sp>
        <p:nvSpPr>
          <p:cNvPr id="13" name="Shape 11"/>
          <p:cNvSpPr/>
          <p:nvPr/>
        </p:nvSpPr>
        <p:spPr>
          <a:xfrm>
            <a:off x="457200" y="2286000"/>
            <a:ext cx="640080" cy="457200"/>
          </a:xfrm>
          <a:prstGeom prst="roundRect">
            <a:avLst>
              <a:gd name="adj" fmla="val 16000"/>
            </a:avLst>
          </a:prstGeom>
          <a:solidFill>
            <a:srgbClr val="E85D04"/>
          </a:solidFill>
          <a:ln/>
        </p:spPr>
      </p:sp>
      <p:sp>
        <p:nvSpPr>
          <p:cNvPr id="14" name="Text 12"/>
          <p:cNvSpPr/>
          <p:nvPr/>
        </p:nvSpPr>
        <p:spPr>
          <a:xfrm>
            <a:off x="457200" y="2286000"/>
            <a:ext cx="64008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15" name="Text 13"/>
          <p:cNvSpPr/>
          <p:nvPr/>
        </p:nvSpPr>
        <p:spPr>
          <a:xfrm>
            <a:off x="1280160" y="2377440"/>
            <a:ext cx="4572000" cy="274320"/>
          </a:xfrm>
          <a:prstGeom prst="rect">
            <a:avLst/>
          </a:prstGeom>
          <a:noFill/>
          <a:ln/>
        </p:spPr>
        <p:txBody>
          <a:bodyPr wrap="square" rtlCol="0" anchor="ctr"/>
          <a:lstStyle/>
          <a:p>
            <a:pPr marL="0" indent="0">
              <a:buNone/>
            </a:pPr>
            <a:r>
              <a:rPr lang="zh-TW" altLang="en-US" sz="1600" b="1" dirty="0">
                <a:solidFill>
                  <a:srgbClr val="1A2332"/>
                </a:solidFill>
                <a:latin typeface="Arial" pitchFamily="34" charset="0"/>
                <a:cs typeface="Arial" pitchFamily="34" charset="-120"/>
              </a:rPr>
              <a:t>心得報告</a:t>
            </a:r>
            <a:endParaRPr lang="en-US" sz="1600" b="1" dirty="0">
              <a:solidFill>
                <a:srgbClr val="1A2332"/>
              </a:solidFill>
              <a:latin typeface="Arial" pitchFamily="34" charset="0"/>
              <a:cs typeface="Arial" pitchFamily="34" charset="-120"/>
            </a:endParaRPr>
          </a:p>
        </p:txBody>
      </p:sp>
      <p:sp>
        <p:nvSpPr>
          <p:cNvPr id="17" name="Shape 15"/>
          <p:cNvSpPr/>
          <p:nvPr/>
        </p:nvSpPr>
        <p:spPr>
          <a:xfrm>
            <a:off x="457200" y="2926080"/>
            <a:ext cx="640080" cy="457200"/>
          </a:xfrm>
          <a:prstGeom prst="roundRect">
            <a:avLst>
              <a:gd name="adj" fmla="val 16000"/>
            </a:avLst>
          </a:prstGeom>
          <a:solidFill>
            <a:srgbClr val="1E5FFF"/>
          </a:solidFill>
          <a:ln/>
        </p:spPr>
      </p:sp>
      <p:sp>
        <p:nvSpPr>
          <p:cNvPr id="18" name="Text 16"/>
          <p:cNvSpPr/>
          <p:nvPr/>
        </p:nvSpPr>
        <p:spPr>
          <a:xfrm>
            <a:off x="457200" y="2926080"/>
            <a:ext cx="64008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04</a:t>
            </a:r>
            <a:endParaRPr lang="en-US" sz="1400" dirty="0"/>
          </a:p>
        </p:txBody>
      </p:sp>
      <p:sp>
        <p:nvSpPr>
          <p:cNvPr id="19" name="Text 17"/>
          <p:cNvSpPr/>
          <p:nvPr/>
        </p:nvSpPr>
        <p:spPr>
          <a:xfrm>
            <a:off x="1280160" y="3017520"/>
            <a:ext cx="4572000" cy="274320"/>
          </a:xfrm>
          <a:prstGeom prst="rect">
            <a:avLst/>
          </a:prstGeom>
          <a:noFill/>
          <a:ln/>
        </p:spPr>
        <p:txBody>
          <a:bodyPr wrap="square" rtlCol="0" anchor="ctr"/>
          <a:lstStyle/>
          <a:p>
            <a:pPr marL="0" indent="0">
              <a:buNone/>
            </a:pPr>
            <a:r>
              <a:rPr lang="zh-TW" altLang="en-US" sz="1600" b="1" dirty="0">
                <a:solidFill>
                  <a:srgbClr val="1A2332"/>
                </a:solidFill>
                <a:latin typeface="Arial" pitchFamily="34" charset="0"/>
                <a:cs typeface="Arial" pitchFamily="34" charset="-120"/>
              </a:rPr>
              <a:t>關鍵字</a:t>
            </a:r>
            <a:endParaRPr lang="en-US" sz="1600" dirty="0"/>
          </a:p>
        </p:txBody>
      </p:sp>
      <p:sp>
        <p:nvSpPr>
          <p:cNvPr id="21" name="Shape 19"/>
          <p:cNvSpPr/>
          <p:nvPr/>
        </p:nvSpPr>
        <p:spPr>
          <a:xfrm>
            <a:off x="457200" y="3566160"/>
            <a:ext cx="640080" cy="457200"/>
          </a:xfrm>
          <a:prstGeom prst="roundRect">
            <a:avLst>
              <a:gd name="adj" fmla="val 16000"/>
            </a:avLst>
          </a:prstGeom>
          <a:solidFill>
            <a:srgbClr val="E85D04"/>
          </a:solidFill>
          <a:ln/>
        </p:spPr>
      </p:sp>
      <p:sp>
        <p:nvSpPr>
          <p:cNvPr id="22" name="Text 20"/>
          <p:cNvSpPr/>
          <p:nvPr/>
        </p:nvSpPr>
        <p:spPr>
          <a:xfrm>
            <a:off x="457200" y="3566160"/>
            <a:ext cx="64008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05</a:t>
            </a:r>
            <a:endParaRPr lang="en-US" sz="1400" dirty="0"/>
          </a:p>
        </p:txBody>
      </p:sp>
      <p:sp>
        <p:nvSpPr>
          <p:cNvPr id="23" name="Text 21"/>
          <p:cNvSpPr/>
          <p:nvPr/>
        </p:nvSpPr>
        <p:spPr>
          <a:xfrm>
            <a:off x="1280160" y="3664131"/>
            <a:ext cx="4572000" cy="274320"/>
          </a:xfrm>
          <a:prstGeom prst="rect">
            <a:avLst/>
          </a:prstGeom>
          <a:noFill/>
          <a:ln/>
        </p:spPr>
        <p:txBody>
          <a:bodyPr wrap="square" rtlCol="0" anchor="ctr"/>
          <a:lstStyle/>
          <a:p>
            <a:pPr marL="0" indent="0">
              <a:buNone/>
            </a:pPr>
            <a:r>
              <a:rPr lang="zh-TW" altLang="en-US" sz="1600" b="1" dirty="0">
                <a:solidFill>
                  <a:srgbClr val="1A2332"/>
                </a:solidFill>
                <a:latin typeface="Arial" pitchFamily="34" charset="0"/>
                <a:ea typeface="Arial" pitchFamily="34" charset="-122"/>
                <a:cs typeface="Arial" pitchFamily="34" charset="-120"/>
              </a:rPr>
              <a:t>參考文獻</a:t>
            </a:r>
            <a:endParaRPr lang="en-US" sz="1600" dirty="0"/>
          </a:p>
        </p:txBody>
      </p:sp>
      <p:sp>
        <p:nvSpPr>
          <p:cNvPr id="26" name="Text 24"/>
          <p:cNvSpPr/>
          <p:nvPr/>
        </p:nvSpPr>
        <p:spPr>
          <a:xfrm>
            <a:off x="457200" y="4206240"/>
            <a:ext cx="64008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332"/>
          </a:solidFill>
          <a:ln/>
        </p:spPr>
      </p:sp>
      <p:sp>
        <p:nvSpPr>
          <p:cNvPr id="3" name="Text 1"/>
          <p:cNvSpPr/>
          <p:nvPr/>
        </p:nvSpPr>
        <p:spPr>
          <a:xfrm>
            <a:off x="457200" y="164592"/>
            <a:ext cx="6858000" cy="36576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簡介  Introduction</a:t>
            </a:r>
            <a:endParaRPr lang="en-US" sz="1800" dirty="0"/>
          </a:p>
        </p:txBody>
      </p:sp>
      <p:sp>
        <p:nvSpPr>
          <p:cNvPr id="4" name="Text 2"/>
          <p:cNvSpPr/>
          <p:nvPr/>
        </p:nvSpPr>
        <p:spPr>
          <a:xfrm>
            <a:off x="7772400" y="164592"/>
            <a:ext cx="914400" cy="365760"/>
          </a:xfrm>
          <a:prstGeom prst="rect">
            <a:avLst/>
          </a:prstGeom>
          <a:noFill/>
          <a:ln/>
        </p:spPr>
        <p:txBody>
          <a:bodyPr wrap="square" rtlCol="0" anchor="ctr"/>
          <a:lstStyle/>
          <a:p>
            <a:pPr marL="0" indent="0" algn="r">
              <a:buNone/>
            </a:pPr>
            <a:r>
              <a:rPr lang="en-US" sz="1400" dirty="0">
                <a:solidFill>
                  <a:srgbClr val="6B7A8D"/>
                </a:solidFill>
                <a:latin typeface="Arial" pitchFamily="34" charset="0"/>
                <a:ea typeface="Arial" pitchFamily="34" charset="-122"/>
                <a:cs typeface="Arial" pitchFamily="34" charset="-120"/>
              </a:rPr>
              <a:t>03</a:t>
            </a:r>
            <a:endParaRPr lang="en-US" sz="1400" dirty="0"/>
          </a:p>
        </p:txBody>
      </p:sp>
      <p:sp>
        <p:nvSpPr>
          <p:cNvPr id="17" name="文字方塊 16">
            <a:extLst>
              <a:ext uri="{FF2B5EF4-FFF2-40B4-BE49-F238E27FC236}">
                <a16:creationId xmlns:a16="http://schemas.microsoft.com/office/drawing/2014/main" id="{EF84254F-E7AD-4D57-9FD3-624A8368E446}"/>
              </a:ext>
            </a:extLst>
          </p:cNvPr>
          <p:cNvSpPr txBox="1"/>
          <p:nvPr/>
        </p:nvSpPr>
        <p:spPr>
          <a:xfrm>
            <a:off x="457200" y="1077685"/>
            <a:ext cx="8229600" cy="2154436"/>
          </a:xfrm>
          <a:prstGeom prst="rect">
            <a:avLst/>
          </a:prstGeom>
          <a:noFill/>
        </p:spPr>
        <p:txBody>
          <a:bodyPr wrap="square" rtlCol="0">
            <a:spAutoFit/>
          </a:bodyPr>
          <a:lstStyle/>
          <a:p>
            <a:r>
              <a:rPr lang="zh-TW" altLang="en-US" sz="1400" dirty="0">
                <a:solidFill>
                  <a:srgbClr val="3D4A5C"/>
                </a:solidFill>
                <a:latin typeface="Arial" pitchFamily="34" charset="0"/>
                <a:cs typeface="Arial" pitchFamily="34" charset="-120"/>
              </a:rPr>
              <a:t>本次演講由國立中正大學電機工程學系蔣惟丞教授主講，聚焦深度強化學習（</a:t>
            </a:r>
            <a:r>
              <a:rPr lang="en-US" altLang="zh-TW" sz="1400" dirty="0">
                <a:solidFill>
                  <a:srgbClr val="3D4A5C"/>
                </a:solidFill>
                <a:latin typeface="Arial" pitchFamily="34" charset="0"/>
                <a:cs typeface="Arial" pitchFamily="34" charset="-120"/>
              </a:rPr>
              <a:t>Deep Reinforcement Learning, DRL</a:t>
            </a:r>
            <a:r>
              <a:rPr lang="zh-TW" altLang="en-US" sz="1400" dirty="0">
                <a:solidFill>
                  <a:srgbClr val="3D4A5C"/>
                </a:solidFill>
                <a:latin typeface="Arial" pitchFamily="34" charset="0"/>
                <a:cs typeface="Arial" pitchFamily="34" charset="-120"/>
              </a:rPr>
              <a:t>）在多機器人系統中的學習與控制應用。講者從強化學習（</a:t>
            </a:r>
            <a:r>
              <a:rPr lang="en-US" altLang="zh-TW" sz="1400" dirty="0">
                <a:solidFill>
                  <a:srgbClr val="3D4A5C"/>
                </a:solidFill>
                <a:latin typeface="Arial" pitchFamily="34" charset="0"/>
                <a:cs typeface="Arial" pitchFamily="34" charset="-120"/>
              </a:rPr>
              <a:t>Reinforcement Learning, RL</a:t>
            </a:r>
            <a:r>
              <a:rPr lang="zh-TW" altLang="en-US" sz="1400" dirty="0">
                <a:solidFill>
                  <a:srgbClr val="3D4A5C"/>
                </a:solidFill>
                <a:latin typeface="Arial" pitchFamily="34" charset="0"/>
                <a:cs typeface="Arial" pitchFamily="34" charset="-120"/>
              </a:rPr>
              <a:t>）的基本原理出發，逐步延伸至群體協作、自主決策與階層式控制架構。</a:t>
            </a:r>
          </a:p>
          <a:p>
            <a:endParaRPr lang="en-US" altLang="zh-TW" dirty="0"/>
          </a:p>
          <a:p>
            <a:r>
              <a:rPr lang="zh-TW" altLang="en-US" sz="1400" dirty="0">
                <a:solidFill>
                  <a:srgbClr val="3D4A5C"/>
                </a:solidFill>
                <a:latin typeface="Arial" pitchFamily="34" charset="0"/>
                <a:cs typeface="Arial" pitchFamily="34" charset="-120"/>
              </a:rPr>
              <a:t>核心問題是：「如何讓多個自主學習的機器人，逐步形成穩定的集體決策？」演講涵蓋代理人（</a:t>
            </a:r>
            <a:r>
              <a:rPr lang="en-US" altLang="zh-TW" sz="1400" dirty="0">
                <a:solidFill>
                  <a:srgbClr val="3D4A5C"/>
                </a:solidFill>
                <a:latin typeface="Arial" pitchFamily="34" charset="0"/>
                <a:cs typeface="Arial" pitchFamily="34" charset="-120"/>
              </a:rPr>
              <a:t>Agent</a:t>
            </a:r>
            <a:r>
              <a:rPr lang="zh-TW" altLang="en-US" sz="1400" dirty="0">
                <a:solidFill>
                  <a:srgbClr val="3D4A5C"/>
                </a:solidFill>
                <a:latin typeface="Arial" pitchFamily="34" charset="0"/>
                <a:cs typeface="Arial" pitchFamily="34" charset="-120"/>
              </a:rPr>
              <a:t>）架構、</a:t>
            </a:r>
            <a:r>
              <a:rPr lang="en-US" altLang="zh-TW" sz="1400" dirty="0">
                <a:solidFill>
                  <a:srgbClr val="3D4A5C"/>
                </a:solidFill>
                <a:latin typeface="Arial" pitchFamily="34" charset="0"/>
                <a:cs typeface="Arial" pitchFamily="34" charset="-120"/>
              </a:rPr>
              <a:t>Q-Learning </a:t>
            </a:r>
            <a:r>
              <a:rPr lang="zh-TW" altLang="en-US" sz="1400" dirty="0">
                <a:solidFill>
                  <a:srgbClr val="3D4A5C"/>
                </a:solidFill>
                <a:latin typeface="Arial" pitchFamily="34" charset="0"/>
                <a:cs typeface="Arial" pitchFamily="34" charset="-120"/>
              </a:rPr>
              <a:t>與 </a:t>
            </a:r>
            <a:r>
              <a:rPr lang="en-US" altLang="zh-TW" sz="1400" dirty="0">
                <a:solidFill>
                  <a:srgbClr val="3D4A5C"/>
                </a:solidFill>
                <a:latin typeface="Arial" pitchFamily="34" charset="0"/>
                <a:cs typeface="Arial" pitchFamily="34" charset="-120"/>
              </a:rPr>
              <a:t>Deep Q-Network</a:t>
            </a:r>
            <a:r>
              <a:rPr lang="zh-TW" altLang="en-US" sz="1400" dirty="0">
                <a:solidFill>
                  <a:srgbClr val="3D4A5C"/>
                </a:solidFill>
                <a:latin typeface="Arial" pitchFamily="34" charset="0"/>
                <a:cs typeface="Arial" pitchFamily="34" charset="-120"/>
              </a:rPr>
              <a:t>（</a:t>
            </a:r>
            <a:r>
              <a:rPr lang="en-US" altLang="zh-TW" sz="1400" dirty="0">
                <a:solidFill>
                  <a:srgbClr val="3D4A5C"/>
                </a:solidFill>
                <a:latin typeface="Arial" pitchFamily="34" charset="0"/>
                <a:cs typeface="Arial" pitchFamily="34" charset="-120"/>
              </a:rPr>
              <a:t>DQN</a:t>
            </a:r>
            <a:r>
              <a:rPr lang="zh-TW" altLang="en-US" sz="1400" dirty="0">
                <a:solidFill>
                  <a:srgbClr val="3D4A5C"/>
                </a:solidFill>
                <a:latin typeface="Arial" pitchFamily="34" charset="0"/>
                <a:cs typeface="Arial" pitchFamily="34" charset="-120"/>
              </a:rPr>
              <a:t>）、無通訊環境下的深度合作模型（</a:t>
            </a:r>
            <a:r>
              <a:rPr lang="en-US" altLang="zh-TW" sz="1400" dirty="0">
                <a:solidFill>
                  <a:srgbClr val="3D4A5C"/>
                </a:solidFill>
                <a:latin typeface="Arial" pitchFamily="34" charset="0"/>
                <a:cs typeface="Arial" pitchFamily="34" charset="-120"/>
              </a:rPr>
              <a:t>Deep Cooperative Model, DCM</a:t>
            </a:r>
            <a:r>
              <a:rPr lang="zh-TW" altLang="en-US" sz="1400" dirty="0">
                <a:solidFill>
                  <a:srgbClr val="3D4A5C"/>
                </a:solidFill>
                <a:latin typeface="Arial" pitchFamily="34" charset="0"/>
                <a:cs typeface="Arial" pitchFamily="34" charset="-120"/>
              </a:rPr>
              <a:t>），以及階層式強化學習在複雜任務（如足球機器人、星海爭霸）中的應用。講者也分享個人求學歷程，並強調研究生應培養獨立解決問題的能力。</a:t>
            </a:r>
          </a:p>
          <a:p>
            <a:endParaRPr lang="zh-TW"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332"/>
          </a:solidFill>
          <a:ln/>
        </p:spPr>
      </p:sp>
      <p:sp>
        <p:nvSpPr>
          <p:cNvPr id="3" name="Text 1"/>
          <p:cNvSpPr/>
          <p:nvPr/>
        </p:nvSpPr>
        <p:spPr>
          <a:xfrm>
            <a:off x="457200" y="164592"/>
            <a:ext cx="6858000" cy="365760"/>
          </a:xfrm>
          <a:prstGeom prst="rect">
            <a:avLst/>
          </a:prstGeom>
          <a:noFill/>
          <a:ln/>
        </p:spPr>
        <p:txBody>
          <a:bodyPr wrap="square" rtlCol="0" anchor="ctr"/>
          <a:lstStyle/>
          <a:p>
            <a:pPr marL="0" indent="0">
              <a:buNone/>
            </a:pPr>
            <a:r>
              <a:rPr lang="zh-TW" altLang="en-US" b="1" dirty="0">
                <a:solidFill>
                  <a:srgbClr val="FFFFFF"/>
                </a:solidFill>
                <a:latin typeface="Arial" pitchFamily="34" charset="0"/>
                <a:cs typeface="Arial" pitchFamily="34" charset="-120"/>
              </a:rPr>
              <a:t>相關技術說明</a:t>
            </a:r>
            <a:endParaRPr lang="en-US" sz="1800" dirty="0"/>
          </a:p>
        </p:txBody>
      </p:sp>
      <p:sp>
        <p:nvSpPr>
          <p:cNvPr id="4" name="Text 2"/>
          <p:cNvSpPr/>
          <p:nvPr/>
        </p:nvSpPr>
        <p:spPr>
          <a:xfrm>
            <a:off x="7772400" y="164592"/>
            <a:ext cx="914400" cy="365760"/>
          </a:xfrm>
          <a:prstGeom prst="rect">
            <a:avLst/>
          </a:prstGeom>
          <a:noFill/>
          <a:ln/>
        </p:spPr>
        <p:txBody>
          <a:bodyPr wrap="square" rtlCol="0" anchor="ctr"/>
          <a:lstStyle/>
          <a:p>
            <a:pPr marL="0" indent="0" algn="r">
              <a:buNone/>
            </a:pPr>
            <a:r>
              <a:rPr lang="en-US" sz="1400" dirty="0">
                <a:solidFill>
                  <a:srgbClr val="6B7A8D"/>
                </a:solidFill>
                <a:latin typeface="Arial" pitchFamily="34" charset="0"/>
                <a:ea typeface="Arial" pitchFamily="34" charset="-122"/>
                <a:cs typeface="Arial" pitchFamily="34" charset="-120"/>
              </a:rPr>
              <a:t>04</a:t>
            </a:r>
            <a:endParaRPr lang="en-US" sz="1400" dirty="0"/>
          </a:p>
        </p:txBody>
      </p:sp>
      <p:sp>
        <p:nvSpPr>
          <p:cNvPr id="5" name="Text 3"/>
          <p:cNvSpPr/>
          <p:nvPr/>
        </p:nvSpPr>
        <p:spPr>
          <a:xfrm>
            <a:off x="457200" y="868680"/>
            <a:ext cx="8229600" cy="320040"/>
          </a:xfrm>
          <a:prstGeom prst="rect">
            <a:avLst/>
          </a:prstGeom>
          <a:noFill/>
          <a:ln/>
        </p:spPr>
        <p:txBody>
          <a:bodyPr wrap="square" rtlCol="0" anchor="ctr"/>
          <a:lstStyle/>
          <a:p>
            <a:pPr marL="0" indent="0">
              <a:buNone/>
            </a:pPr>
            <a:r>
              <a:rPr lang="en-US" sz="1800" b="1" dirty="0">
                <a:solidFill>
                  <a:srgbClr val="1A2332"/>
                </a:solidFill>
                <a:latin typeface="Arial" pitchFamily="34" charset="0"/>
                <a:ea typeface="Arial" pitchFamily="34" charset="-122"/>
                <a:cs typeface="Arial" pitchFamily="34" charset="-120"/>
              </a:rPr>
              <a:t>Q-Learning 與 Deep Q-Network (DQN)</a:t>
            </a:r>
            <a:endParaRPr lang="en-US" sz="1800" dirty="0"/>
          </a:p>
        </p:txBody>
      </p:sp>
      <p:sp>
        <p:nvSpPr>
          <p:cNvPr id="6" name="Shape 4"/>
          <p:cNvSpPr/>
          <p:nvPr/>
        </p:nvSpPr>
        <p:spPr>
          <a:xfrm>
            <a:off x="457200" y="1325880"/>
            <a:ext cx="8229600" cy="1005840"/>
          </a:xfrm>
          <a:prstGeom prst="roundRect">
            <a:avLst>
              <a:gd name="adj" fmla="val 7273"/>
            </a:avLst>
          </a:prstGeom>
          <a:solidFill>
            <a:srgbClr val="EDE8DC"/>
          </a:solidFill>
          <a:ln w="12700">
            <a:solidFill>
              <a:srgbClr val="D4CBB8"/>
            </a:solidFill>
            <a:prstDash val="solid"/>
          </a:ln>
        </p:spPr>
      </p:sp>
      <p:sp>
        <p:nvSpPr>
          <p:cNvPr id="7" name="Text 5"/>
          <p:cNvSpPr/>
          <p:nvPr/>
        </p:nvSpPr>
        <p:spPr>
          <a:xfrm>
            <a:off x="640080" y="1463040"/>
            <a:ext cx="7863840" cy="365760"/>
          </a:xfrm>
          <a:prstGeom prst="rect">
            <a:avLst/>
          </a:prstGeom>
          <a:noFill/>
          <a:ln/>
        </p:spPr>
        <p:txBody>
          <a:bodyPr wrap="square" rtlCol="0" anchor="ctr"/>
          <a:lstStyle/>
          <a:p>
            <a:pPr marL="0" indent="0" algn="ctr">
              <a:buNone/>
            </a:pPr>
            <a:r>
              <a:rPr lang="en-US" sz="1600" dirty="0">
                <a:solidFill>
                  <a:srgbClr val="1A2332"/>
                </a:solidFill>
                <a:latin typeface="Courier New" pitchFamily="34" charset="0"/>
                <a:ea typeface="Courier New" pitchFamily="34" charset="-122"/>
                <a:cs typeface="Courier New" pitchFamily="34" charset="-120"/>
              </a:rPr>
              <a:t>Q(s,a) ← Q(s,a) + β [ r + γ maxₐ′ Q(s′,a′) − Q(s,a) ]</a:t>
            </a:r>
            <a:endParaRPr lang="en-US" sz="1600" dirty="0"/>
          </a:p>
        </p:txBody>
      </p:sp>
      <p:sp>
        <p:nvSpPr>
          <p:cNvPr id="8" name="Text 6"/>
          <p:cNvSpPr/>
          <p:nvPr/>
        </p:nvSpPr>
        <p:spPr>
          <a:xfrm>
            <a:off x="640080" y="1920240"/>
            <a:ext cx="7863840" cy="274320"/>
          </a:xfrm>
          <a:prstGeom prst="rect">
            <a:avLst/>
          </a:prstGeom>
          <a:noFill/>
          <a:ln/>
        </p:spPr>
        <p:txBody>
          <a:bodyPr wrap="square" rtlCol="0" anchor="ctr"/>
          <a:lstStyle/>
          <a:p>
            <a:pPr marL="0" indent="0" algn="ctr">
              <a:buNone/>
            </a:pPr>
            <a:r>
              <a:rPr lang="en-US" sz="1300" dirty="0">
                <a:solidFill>
                  <a:srgbClr val="3D4A5C"/>
                </a:solidFill>
                <a:latin typeface="Arial" pitchFamily="34" charset="0"/>
                <a:ea typeface="Arial" pitchFamily="34" charset="-122"/>
                <a:cs typeface="Arial" pitchFamily="34" charset="-120"/>
              </a:rPr>
              <a:t>傳統表格方法在高維輸入（影像）下會遭遇維度災難 → 導入 DQN 以神經網路近似 Q 函數</a:t>
            </a:r>
            <a:endParaRPr lang="en-US" sz="1300" dirty="0"/>
          </a:p>
        </p:txBody>
      </p:sp>
      <p:sp>
        <p:nvSpPr>
          <p:cNvPr id="9" name="Text 7"/>
          <p:cNvSpPr/>
          <p:nvPr/>
        </p:nvSpPr>
        <p:spPr>
          <a:xfrm>
            <a:off x="457200" y="2560320"/>
            <a:ext cx="3931920" cy="320040"/>
          </a:xfrm>
          <a:prstGeom prst="rect">
            <a:avLst/>
          </a:prstGeom>
          <a:noFill/>
          <a:ln/>
        </p:spPr>
        <p:txBody>
          <a:bodyPr wrap="square" rtlCol="0" anchor="ctr"/>
          <a:lstStyle/>
          <a:p>
            <a:pPr marL="0" indent="0">
              <a:buNone/>
            </a:pPr>
            <a:r>
              <a:rPr lang="en-US" sz="1500" b="1" dirty="0">
                <a:solidFill>
                  <a:srgbClr val="1A2332"/>
                </a:solidFill>
                <a:latin typeface="Arial" pitchFamily="34" charset="0"/>
                <a:ea typeface="Arial" pitchFamily="34" charset="-122"/>
                <a:cs typeface="Arial" pitchFamily="34" charset="-120"/>
              </a:rPr>
              <a:t>機器學習四種模式</a:t>
            </a:r>
            <a:endParaRPr lang="en-US" sz="1500" dirty="0"/>
          </a:p>
        </p:txBody>
      </p:sp>
      <p:sp>
        <p:nvSpPr>
          <p:cNvPr id="10" name="Text 8"/>
          <p:cNvSpPr/>
          <p:nvPr/>
        </p:nvSpPr>
        <p:spPr>
          <a:xfrm>
            <a:off x="457200" y="2971800"/>
            <a:ext cx="4114800" cy="32004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  監督式學習：需標籤資料</a:t>
            </a:r>
            <a:endParaRPr lang="en-US" sz="1400" dirty="0"/>
          </a:p>
        </p:txBody>
      </p:sp>
      <p:sp>
        <p:nvSpPr>
          <p:cNvPr id="11" name="Text 9"/>
          <p:cNvSpPr/>
          <p:nvPr/>
        </p:nvSpPr>
        <p:spPr>
          <a:xfrm>
            <a:off x="457200" y="3337560"/>
            <a:ext cx="4114800" cy="32004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  非監督式學習：無標籤分群</a:t>
            </a:r>
            <a:endParaRPr lang="en-US" sz="1400" dirty="0"/>
          </a:p>
        </p:txBody>
      </p:sp>
      <p:sp>
        <p:nvSpPr>
          <p:cNvPr id="12" name="Text 10"/>
          <p:cNvSpPr/>
          <p:nvPr/>
        </p:nvSpPr>
        <p:spPr>
          <a:xfrm>
            <a:off x="457200" y="3703320"/>
            <a:ext cx="4114800" cy="32004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  </a:t>
            </a:r>
            <a:r>
              <a:rPr lang="en-US" sz="1400" dirty="0" err="1">
                <a:solidFill>
                  <a:srgbClr val="3D4A5C"/>
                </a:solidFill>
                <a:latin typeface="Arial" pitchFamily="34" charset="0"/>
                <a:ea typeface="Arial" pitchFamily="34" charset="-122"/>
                <a:cs typeface="Arial" pitchFamily="34" charset="-120"/>
              </a:rPr>
              <a:t>半監督式學習：少量標籤</a:t>
            </a:r>
            <a:r>
              <a:rPr lang="en-US" sz="1400" dirty="0">
                <a:solidFill>
                  <a:srgbClr val="3D4A5C"/>
                </a:solidFill>
                <a:latin typeface="Arial" pitchFamily="34" charset="0"/>
                <a:ea typeface="Arial" pitchFamily="34" charset="-122"/>
                <a:cs typeface="Arial" pitchFamily="34" charset="-120"/>
              </a:rPr>
              <a:t> + 大量未標籤</a:t>
            </a:r>
            <a:endParaRPr lang="en-US" sz="1400" dirty="0"/>
          </a:p>
        </p:txBody>
      </p:sp>
      <p:sp>
        <p:nvSpPr>
          <p:cNvPr id="13" name="Text 11"/>
          <p:cNvSpPr/>
          <p:nvPr/>
        </p:nvSpPr>
        <p:spPr>
          <a:xfrm>
            <a:off x="457200" y="4069080"/>
            <a:ext cx="4114800" cy="32004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  強化學習：試錯與環境互動獲取報酬</a:t>
            </a:r>
            <a:endParaRPr lang="en-US" sz="1400" dirty="0"/>
          </a:p>
        </p:txBody>
      </p:sp>
      <p:sp>
        <p:nvSpPr>
          <p:cNvPr id="14" name="Text 12"/>
          <p:cNvSpPr/>
          <p:nvPr/>
        </p:nvSpPr>
        <p:spPr>
          <a:xfrm>
            <a:off x="4846320" y="2560320"/>
            <a:ext cx="3931920" cy="320040"/>
          </a:xfrm>
          <a:prstGeom prst="rect">
            <a:avLst/>
          </a:prstGeom>
          <a:noFill/>
          <a:ln/>
        </p:spPr>
        <p:txBody>
          <a:bodyPr wrap="square" rtlCol="0" anchor="ctr"/>
          <a:lstStyle/>
          <a:p>
            <a:pPr marL="0" indent="0">
              <a:buNone/>
            </a:pPr>
            <a:r>
              <a:rPr lang="en-US" sz="1500" b="1" dirty="0">
                <a:solidFill>
                  <a:srgbClr val="1A2332"/>
                </a:solidFill>
                <a:latin typeface="Arial" pitchFamily="34" charset="0"/>
                <a:ea typeface="Arial" pitchFamily="34" charset="-122"/>
                <a:cs typeface="Arial" pitchFamily="34" charset="-120"/>
              </a:rPr>
              <a:t>DQN 關鍵技術</a:t>
            </a:r>
            <a:endParaRPr lang="en-US" sz="1500" dirty="0"/>
          </a:p>
        </p:txBody>
      </p:sp>
      <p:sp>
        <p:nvSpPr>
          <p:cNvPr id="15" name="Text 13"/>
          <p:cNvSpPr/>
          <p:nvPr/>
        </p:nvSpPr>
        <p:spPr>
          <a:xfrm>
            <a:off x="4846320" y="2971800"/>
            <a:ext cx="3931920" cy="32004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  經驗回放（Experience Replay）</a:t>
            </a:r>
            <a:endParaRPr lang="en-US" sz="1400" dirty="0"/>
          </a:p>
        </p:txBody>
      </p:sp>
      <p:sp>
        <p:nvSpPr>
          <p:cNvPr id="16" name="Text 14"/>
          <p:cNvSpPr/>
          <p:nvPr/>
        </p:nvSpPr>
        <p:spPr>
          <a:xfrm>
            <a:off x="4846320" y="3337560"/>
            <a:ext cx="3931920" cy="32004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  目標網路穩定訓練</a:t>
            </a:r>
            <a:endParaRPr lang="en-US" sz="1400" dirty="0"/>
          </a:p>
        </p:txBody>
      </p:sp>
      <p:sp>
        <p:nvSpPr>
          <p:cNvPr id="17" name="Text 15"/>
          <p:cNvSpPr/>
          <p:nvPr/>
        </p:nvSpPr>
        <p:spPr>
          <a:xfrm>
            <a:off x="4846320" y="3703320"/>
            <a:ext cx="3931920" cy="32004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  卷積網路處理影像狀態</a:t>
            </a:r>
            <a:endParaRPr lang="en-US" sz="1400" dirty="0"/>
          </a:p>
        </p:txBody>
      </p:sp>
      <p:sp>
        <p:nvSpPr>
          <p:cNvPr id="18" name="Text 16"/>
          <p:cNvSpPr/>
          <p:nvPr/>
        </p:nvSpPr>
        <p:spPr>
          <a:xfrm>
            <a:off x="4846320" y="4069080"/>
            <a:ext cx="3931920" cy="32004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  輸出各動作之 Q 值</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332"/>
          </a:solidFill>
          <a:ln/>
        </p:spPr>
      </p:sp>
      <p:sp>
        <p:nvSpPr>
          <p:cNvPr id="3" name="Text 1"/>
          <p:cNvSpPr/>
          <p:nvPr/>
        </p:nvSpPr>
        <p:spPr>
          <a:xfrm>
            <a:off x="457200" y="164592"/>
            <a:ext cx="6858000" cy="36576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為什麼需要群體機器人？</a:t>
            </a:r>
            <a:endParaRPr lang="en-US" sz="1800" dirty="0"/>
          </a:p>
        </p:txBody>
      </p:sp>
      <p:sp>
        <p:nvSpPr>
          <p:cNvPr id="4" name="Text 2"/>
          <p:cNvSpPr/>
          <p:nvPr/>
        </p:nvSpPr>
        <p:spPr>
          <a:xfrm>
            <a:off x="7772400" y="164592"/>
            <a:ext cx="914400" cy="365760"/>
          </a:xfrm>
          <a:prstGeom prst="rect">
            <a:avLst/>
          </a:prstGeom>
          <a:noFill/>
          <a:ln/>
        </p:spPr>
        <p:txBody>
          <a:bodyPr wrap="square" rtlCol="0" anchor="ctr"/>
          <a:lstStyle/>
          <a:p>
            <a:pPr marL="0" indent="0" algn="r">
              <a:buNone/>
            </a:pPr>
            <a:r>
              <a:rPr lang="en-US" sz="1400" dirty="0">
                <a:solidFill>
                  <a:srgbClr val="6B7A8D"/>
                </a:solidFill>
                <a:latin typeface="Arial" pitchFamily="34" charset="0"/>
                <a:ea typeface="Arial" pitchFamily="34" charset="-122"/>
                <a:cs typeface="Arial" pitchFamily="34" charset="-120"/>
              </a:rPr>
              <a:t>05</a:t>
            </a:r>
            <a:endParaRPr lang="en-US" sz="1400" dirty="0"/>
          </a:p>
        </p:txBody>
      </p:sp>
      <p:sp>
        <p:nvSpPr>
          <p:cNvPr id="5" name="Text 3"/>
          <p:cNvSpPr/>
          <p:nvPr/>
        </p:nvSpPr>
        <p:spPr>
          <a:xfrm>
            <a:off x="457200" y="914400"/>
            <a:ext cx="8229600" cy="320040"/>
          </a:xfrm>
          <a:prstGeom prst="rect">
            <a:avLst/>
          </a:prstGeom>
          <a:noFill/>
          <a:ln/>
        </p:spPr>
        <p:txBody>
          <a:bodyPr wrap="square" rtlCol="0" anchor="ctr"/>
          <a:lstStyle/>
          <a:p>
            <a:pPr marL="0" indent="0">
              <a:buNone/>
            </a:pPr>
            <a:r>
              <a:rPr lang="en-US" sz="1600" dirty="0">
                <a:solidFill>
                  <a:srgbClr val="3D4A5C"/>
                </a:solidFill>
                <a:latin typeface="Arial" pitchFamily="34" charset="0"/>
                <a:ea typeface="Arial" pitchFamily="34" charset="-122"/>
                <a:cs typeface="Arial" pitchFamily="34" charset="-120"/>
              </a:rPr>
              <a:t>單一機器人能力有限，協作可擴展任務複雜度</a:t>
            </a:r>
            <a:endParaRPr lang="en-US" sz="1600" dirty="0"/>
          </a:p>
        </p:txBody>
      </p:sp>
      <p:sp>
        <p:nvSpPr>
          <p:cNvPr id="6" name="Shape 4"/>
          <p:cNvSpPr/>
          <p:nvPr/>
        </p:nvSpPr>
        <p:spPr>
          <a:xfrm>
            <a:off x="457200" y="1417320"/>
            <a:ext cx="8229600" cy="914400"/>
          </a:xfrm>
          <a:prstGeom prst="roundRect">
            <a:avLst>
              <a:gd name="adj" fmla="val 8000"/>
            </a:avLst>
          </a:prstGeom>
          <a:solidFill>
            <a:srgbClr val="EDE8DC"/>
          </a:solidFill>
          <a:ln/>
        </p:spPr>
      </p:sp>
      <p:sp>
        <p:nvSpPr>
          <p:cNvPr id="7" name="Shape 5"/>
          <p:cNvSpPr/>
          <p:nvPr/>
        </p:nvSpPr>
        <p:spPr>
          <a:xfrm>
            <a:off x="457200" y="1417320"/>
            <a:ext cx="109728" cy="914400"/>
          </a:xfrm>
          <a:prstGeom prst="rect">
            <a:avLst/>
          </a:prstGeom>
          <a:solidFill>
            <a:srgbClr val="E85D04"/>
          </a:solidFill>
          <a:ln/>
        </p:spPr>
      </p:sp>
      <p:sp>
        <p:nvSpPr>
          <p:cNvPr id="8" name="Text 6"/>
          <p:cNvSpPr/>
          <p:nvPr/>
        </p:nvSpPr>
        <p:spPr>
          <a:xfrm>
            <a:off x="822960" y="1554480"/>
            <a:ext cx="7589520" cy="274320"/>
          </a:xfrm>
          <a:prstGeom prst="rect">
            <a:avLst/>
          </a:prstGeom>
          <a:noFill/>
          <a:ln/>
        </p:spPr>
        <p:txBody>
          <a:bodyPr wrap="square" rtlCol="0" anchor="ctr"/>
          <a:lstStyle/>
          <a:p>
            <a:pPr marL="0" indent="0">
              <a:buNone/>
            </a:pPr>
            <a:r>
              <a:rPr lang="en-US" sz="1600" b="1" dirty="0">
                <a:solidFill>
                  <a:srgbClr val="1A2332"/>
                </a:solidFill>
                <a:latin typeface="Arial" pitchFamily="34" charset="0"/>
                <a:ea typeface="Arial" pitchFamily="34" charset="-122"/>
                <a:cs typeface="Arial" pitchFamily="34" charset="-120"/>
              </a:rPr>
              <a:t>工作範圍更大</a:t>
            </a:r>
            <a:endParaRPr lang="en-US" sz="1600" dirty="0"/>
          </a:p>
        </p:txBody>
      </p:sp>
      <p:sp>
        <p:nvSpPr>
          <p:cNvPr id="9" name="Text 7"/>
          <p:cNvSpPr/>
          <p:nvPr/>
        </p:nvSpPr>
        <p:spPr>
          <a:xfrm>
            <a:off x="822960" y="1874520"/>
            <a:ext cx="7589520" cy="32004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多部機器人可分散執行巡檢、監控、探索與搬運等任務，大幅節省時間。</a:t>
            </a:r>
            <a:endParaRPr lang="en-US" sz="1400" dirty="0"/>
          </a:p>
        </p:txBody>
      </p:sp>
      <p:sp>
        <p:nvSpPr>
          <p:cNvPr id="10" name="Shape 8"/>
          <p:cNvSpPr/>
          <p:nvPr/>
        </p:nvSpPr>
        <p:spPr>
          <a:xfrm>
            <a:off x="457200" y="2468880"/>
            <a:ext cx="8229600" cy="914400"/>
          </a:xfrm>
          <a:prstGeom prst="roundRect">
            <a:avLst>
              <a:gd name="adj" fmla="val 8000"/>
            </a:avLst>
          </a:prstGeom>
          <a:solidFill>
            <a:srgbClr val="EDE8DC"/>
          </a:solidFill>
          <a:ln/>
        </p:spPr>
      </p:sp>
      <p:sp>
        <p:nvSpPr>
          <p:cNvPr id="11" name="Shape 9"/>
          <p:cNvSpPr/>
          <p:nvPr/>
        </p:nvSpPr>
        <p:spPr>
          <a:xfrm>
            <a:off x="457200" y="2468880"/>
            <a:ext cx="109728" cy="914400"/>
          </a:xfrm>
          <a:prstGeom prst="rect">
            <a:avLst/>
          </a:prstGeom>
          <a:solidFill>
            <a:srgbClr val="1E5FFF"/>
          </a:solidFill>
          <a:ln/>
        </p:spPr>
      </p:sp>
      <p:sp>
        <p:nvSpPr>
          <p:cNvPr id="12" name="Text 10"/>
          <p:cNvSpPr/>
          <p:nvPr/>
        </p:nvSpPr>
        <p:spPr>
          <a:xfrm>
            <a:off x="822960" y="2606040"/>
            <a:ext cx="7589520" cy="274320"/>
          </a:xfrm>
          <a:prstGeom prst="rect">
            <a:avLst/>
          </a:prstGeom>
          <a:noFill/>
          <a:ln/>
        </p:spPr>
        <p:txBody>
          <a:bodyPr wrap="square" rtlCol="0" anchor="ctr"/>
          <a:lstStyle/>
          <a:p>
            <a:pPr marL="0" indent="0">
              <a:buNone/>
            </a:pPr>
            <a:r>
              <a:rPr lang="en-US" sz="1600" b="1" dirty="0">
                <a:solidFill>
                  <a:srgbClr val="1A2332"/>
                </a:solidFill>
                <a:latin typeface="Arial" pitchFamily="34" charset="0"/>
                <a:ea typeface="Arial" pitchFamily="34" charset="-122"/>
                <a:cs typeface="Arial" pitchFamily="34" charset="-120"/>
              </a:rPr>
              <a:t>工作分工更細</a:t>
            </a:r>
            <a:endParaRPr lang="en-US" sz="1600" dirty="0"/>
          </a:p>
        </p:txBody>
      </p:sp>
      <p:sp>
        <p:nvSpPr>
          <p:cNvPr id="13" name="Text 11"/>
          <p:cNvSpPr/>
          <p:nvPr/>
        </p:nvSpPr>
        <p:spPr>
          <a:xfrm>
            <a:off x="822960" y="2926080"/>
            <a:ext cx="7589520" cy="32004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在相同任務中配置不同角色，讓專長互補與任務同步發生。</a:t>
            </a:r>
            <a:endParaRPr lang="en-US" sz="1400" dirty="0"/>
          </a:p>
        </p:txBody>
      </p:sp>
      <p:sp>
        <p:nvSpPr>
          <p:cNvPr id="14" name="Shape 12"/>
          <p:cNvSpPr/>
          <p:nvPr/>
        </p:nvSpPr>
        <p:spPr>
          <a:xfrm>
            <a:off x="457200" y="3520440"/>
            <a:ext cx="8229600" cy="914400"/>
          </a:xfrm>
          <a:prstGeom prst="roundRect">
            <a:avLst>
              <a:gd name="adj" fmla="val 8000"/>
            </a:avLst>
          </a:prstGeom>
          <a:solidFill>
            <a:srgbClr val="EDE8DC"/>
          </a:solidFill>
          <a:ln/>
        </p:spPr>
      </p:sp>
      <p:sp>
        <p:nvSpPr>
          <p:cNvPr id="15" name="Shape 13"/>
          <p:cNvSpPr/>
          <p:nvPr/>
        </p:nvSpPr>
        <p:spPr>
          <a:xfrm>
            <a:off x="457200" y="3520440"/>
            <a:ext cx="109728" cy="914400"/>
          </a:xfrm>
          <a:prstGeom prst="rect">
            <a:avLst/>
          </a:prstGeom>
          <a:solidFill>
            <a:srgbClr val="2A9D8F"/>
          </a:solidFill>
          <a:ln/>
        </p:spPr>
      </p:sp>
      <p:sp>
        <p:nvSpPr>
          <p:cNvPr id="16" name="Text 14"/>
          <p:cNvSpPr/>
          <p:nvPr/>
        </p:nvSpPr>
        <p:spPr>
          <a:xfrm>
            <a:off x="822960" y="3657600"/>
            <a:ext cx="7589520" cy="274320"/>
          </a:xfrm>
          <a:prstGeom prst="rect">
            <a:avLst/>
          </a:prstGeom>
          <a:noFill/>
          <a:ln/>
        </p:spPr>
        <p:txBody>
          <a:bodyPr wrap="square" rtlCol="0" anchor="ctr"/>
          <a:lstStyle/>
          <a:p>
            <a:pPr marL="0" indent="0">
              <a:buNone/>
            </a:pPr>
            <a:r>
              <a:rPr lang="en-US" sz="1600" b="1" dirty="0">
                <a:solidFill>
                  <a:srgbClr val="1A2332"/>
                </a:solidFill>
                <a:latin typeface="Arial" pitchFamily="34" charset="0"/>
                <a:ea typeface="Arial" pitchFamily="34" charset="-122"/>
                <a:cs typeface="Arial" pitchFamily="34" charset="-120"/>
              </a:rPr>
              <a:t>環境適應更強</a:t>
            </a:r>
            <a:endParaRPr lang="en-US" sz="1600" dirty="0"/>
          </a:p>
        </p:txBody>
      </p:sp>
      <p:sp>
        <p:nvSpPr>
          <p:cNvPr id="17" name="Text 15"/>
          <p:cNvSpPr/>
          <p:nvPr/>
        </p:nvSpPr>
        <p:spPr>
          <a:xfrm>
            <a:off x="822960" y="3977640"/>
            <a:ext cx="7589520" cy="32004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在障礙物、未知事件或個體限制下，透過協調調整群體行動。</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332"/>
          </a:solidFill>
          <a:ln/>
        </p:spPr>
      </p:sp>
      <p:sp>
        <p:nvSpPr>
          <p:cNvPr id="3" name="Text 1"/>
          <p:cNvSpPr/>
          <p:nvPr/>
        </p:nvSpPr>
        <p:spPr>
          <a:xfrm>
            <a:off x="457200" y="164592"/>
            <a:ext cx="6858000" cy="36576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通訊限制與合作挑戰</a:t>
            </a:r>
            <a:endParaRPr lang="en-US" sz="1800" dirty="0"/>
          </a:p>
        </p:txBody>
      </p:sp>
      <p:sp>
        <p:nvSpPr>
          <p:cNvPr id="4" name="Text 2"/>
          <p:cNvSpPr/>
          <p:nvPr/>
        </p:nvSpPr>
        <p:spPr>
          <a:xfrm>
            <a:off x="7772400" y="164592"/>
            <a:ext cx="914400" cy="365760"/>
          </a:xfrm>
          <a:prstGeom prst="rect">
            <a:avLst/>
          </a:prstGeom>
          <a:noFill/>
          <a:ln/>
        </p:spPr>
        <p:txBody>
          <a:bodyPr wrap="square" rtlCol="0" anchor="ctr"/>
          <a:lstStyle/>
          <a:p>
            <a:pPr marL="0" indent="0" algn="r">
              <a:buNone/>
            </a:pPr>
            <a:r>
              <a:rPr lang="en-US" sz="1400" dirty="0">
                <a:solidFill>
                  <a:srgbClr val="6B7A8D"/>
                </a:solidFill>
                <a:latin typeface="Arial" pitchFamily="34" charset="0"/>
                <a:ea typeface="Arial" pitchFamily="34" charset="-122"/>
                <a:cs typeface="Arial" pitchFamily="34" charset="-120"/>
              </a:rPr>
              <a:t>06</a:t>
            </a:r>
            <a:endParaRPr lang="en-US" sz="1400" dirty="0"/>
          </a:p>
        </p:txBody>
      </p:sp>
      <p:sp>
        <p:nvSpPr>
          <p:cNvPr id="5" name="Text 3"/>
          <p:cNvSpPr/>
          <p:nvPr/>
        </p:nvSpPr>
        <p:spPr>
          <a:xfrm>
            <a:off x="457200" y="914400"/>
            <a:ext cx="4023360" cy="320040"/>
          </a:xfrm>
          <a:prstGeom prst="rect">
            <a:avLst/>
          </a:prstGeom>
          <a:noFill/>
          <a:ln/>
        </p:spPr>
        <p:txBody>
          <a:bodyPr wrap="square" rtlCol="0" anchor="ctr"/>
          <a:lstStyle/>
          <a:p>
            <a:pPr marL="0" indent="0">
              <a:buNone/>
            </a:pPr>
            <a:r>
              <a:rPr lang="en-US" sz="1600" b="1" dirty="0">
                <a:solidFill>
                  <a:srgbClr val="1A2332"/>
                </a:solidFill>
                <a:latin typeface="Arial" pitchFamily="34" charset="0"/>
                <a:ea typeface="Arial" pitchFamily="34" charset="-122"/>
                <a:cs typeface="Arial" pitchFamily="34" charset="-120"/>
              </a:rPr>
              <a:t>資訊流動方式</a:t>
            </a:r>
            <a:endParaRPr lang="en-US" sz="1600" dirty="0"/>
          </a:p>
        </p:txBody>
      </p:sp>
      <p:sp>
        <p:nvSpPr>
          <p:cNvPr id="6" name="Shape 4"/>
          <p:cNvSpPr/>
          <p:nvPr/>
        </p:nvSpPr>
        <p:spPr>
          <a:xfrm>
            <a:off x="457200" y="1371600"/>
            <a:ext cx="4023360" cy="685800"/>
          </a:xfrm>
          <a:prstGeom prst="roundRect">
            <a:avLst>
              <a:gd name="adj" fmla="val 10667"/>
            </a:avLst>
          </a:prstGeom>
          <a:solidFill>
            <a:srgbClr val="EDE8DC"/>
          </a:solidFill>
          <a:ln/>
        </p:spPr>
      </p:sp>
      <p:sp>
        <p:nvSpPr>
          <p:cNvPr id="7" name="Text 5"/>
          <p:cNvSpPr/>
          <p:nvPr/>
        </p:nvSpPr>
        <p:spPr>
          <a:xfrm>
            <a:off x="640080" y="1463040"/>
            <a:ext cx="3657600" cy="228600"/>
          </a:xfrm>
          <a:prstGeom prst="rect">
            <a:avLst/>
          </a:prstGeom>
          <a:noFill/>
          <a:ln/>
        </p:spPr>
        <p:txBody>
          <a:bodyPr wrap="square" rtlCol="0" anchor="ctr"/>
          <a:lstStyle/>
          <a:p>
            <a:pPr marL="0" indent="0">
              <a:buNone/>
            </a:pPr>
            <a:r>
              <a:rPr lang="en-US" sz="1400" b="1" dirty="0">
                <a:solidFill>
                  <a:srgbClr val="E85D04"/>
                </a:solidFill>
                <a:latin typeface="Arial" pitchFamily="34" charset="0"/>
                <a:ea typeface="Arial" pitchFamily="34" charset="-122"/>
                <a:cs typeface="Arial" pitchFamily="34" charset="-120"/>
              </a:rPr>
              <a:t>完全通訊</a:t>
            </a:r>
            <a:endParaRPr lang="en-US" sz="1400" dirty="0"/>
          </a:p>
        </p:txBody>
      </p:sp>
      <p:sp>
        <p:nvSpPr>
          <p:cNvPr id="8" name="Text 6"/>
          <p:cNvSpPr/>
          <p:nvPr/>
        </p:nvSpPr>
        <p:spPr>
          <a:xfrm>
            <a:off x="640080" y="1719072"/>
            <a:ext cx="3657600" cy="228600"/>
          </a:xfrm>
          <a:prstGeom prst="rect">
            <a:avLst/>
          </a:prstGeom>
          <a:noFill/>
          <a:ln/>
        </p:spPr>
        <p:txBody>
          <a:bodyPr wrap="square" rtlCol="0" anchor="ctr"/>
          <a:lstStyle/>
          <a:p>
            <a:pPr marL="0" indent="0">
              <a:buNone/>
            </a:pPr>
            <a:r>
              <a:rPr lang="en-US" sz="1200" dirty="0">
                <a:solidFill>
                  <a:srgbClr val="3D4A5C"/>
                </a:solidFill>
                <a:latin typeface="Arial" pitchFamily="34" charset="0"/>
                <a:ea typeface="Arial" pitchFamily="34" charset="-122"/>
                <a:cs typeface="Arial" pitchFamily="34" charset="-120"/>
              </a:rPr>
              <a:t>資訊最完整，但聯合空間與傳輸成本高</a:t>
            </a:r>
            <a:endParaRPr lang="en-US" sz="1200" dirty="0"/>
          </a:p>
        </p:txBody>
      </p:sp>
      <p:sp>
        <p:nvSpPr>
          <p:cNvPr id="9" name="Shape 7"/>
          <p:cNvSpPr/>
          <p:nvPr/>
        </p:nvSpPr>
        <p:spPr>
          <a:xfrm>
            <a:off x="457200" y="2194560"/>
            <a:ext cx="4023360" cy="685800"/>
          </a:xfrm>
          <a:prstGeom prst="roundRect">
            <a:avLst>
              <a:gd name="adj" fmla="val 10667"/>
            </a:avLst>
          </a:prstGeom>
          <a:solidFill>
            <a:srgbClr val="EDE8DC"/>
          </a:solidFill>
          <a:ln/>
        </p:spPr>
      </p:sp>
      <p:sp>
        <p:nvSpPr>
          <p:cNvPr id="10" name="Text 8"/>
          <p:cNvSpPr/>
          <p:nvPr/>
        </p:nvSpPr>
        <p:spPr>
          <a:xfrm>
            <a:off x="640080" y="2286000"/>
            <a:ext cx="3657600" cy="228600"/>
          </a:xfrm>
          <a:prstGeom prst="rect">
            <a:avLst/>
          </a:prstGeom>
          <a:noFill/>
          <a:ln/>
        </p:spPr>
        <p:txBody>
          <a:bodyPr wrap="square" rtlCol="0" anchor="ctr"/>
          <a:lstStyle/>
          <a:p>
            <a:pPr marL="0" indent="0">
              <a:buNone/>
            </a:pPr>
            <a:r>
              <a:rPr lang="en-US" sz="1400" b="1" dirty="0">
                <a:solidFill>
                  <a:srgbClr val="E85D04"/>
                </a:solidFill>
                <a:latin typeface="Arial" pitchFamily="34" charset="0"/>
                <a:ea typeface="Arial" pitchFamily="34" charset="-122"/>
                <a:cs typeface="Arial" pitchFamily="34" charset="-120"/>
              </a:rPr>
              <a:t>部分通訊</a:t>
            </a:r>
            <a:endParaRPr lang="en-US" sz="1400" dirty="0"/>
          </a:p>
        </p:txBody>
      </p:sp>
      <p:sp>
        <p:nvSpPr>
          <p:cNvPr id="11" name="Text 9"/>
          <p:cNvSpPr/>
          <p:nvPr/>
        </p:nvSpPr>
        <p:spPr>
          <a:xfrm>
            <a:off x="640080" y="2542032"/>
            <a:ext cx="3657600" cy="228600"/>
          </a:xfrm>
          <a:prstGeom prst="rect">
            <a:avLst/>
          </a:prstGeom>
          <a:noFill/>
          <a:ln/>
        </p:spPr>
        <p:txBody>
          <a:bodyPr wrap="square" rtlCol="0" anchor="ctr"/>
          <a:lstStyle/>
          <a:p>
            <a:pPr marL="0" indent="0">
              <a:buNone/>
            </a:pPr>
            <a:r>
              <a:rPr lang="en-US" sz="1200" dirty="0">
                <a:solidFill>
                  <a:srgbClr val="3D4A5C"/>
                </a:solidFill>
                <a:latin typeface="Arial" pitchFamily="34" charset="0"/>
                <a:ea typeface="Arial" pitchFamily="34" charset="-122"/>
                <a:cs typeface="Arial" pitchFamily="34" charset="-120"/>
              </a:rPr>
              <a:t>折中通訊成本並維持合作效能</a:t>
            </a:r>
            <a:endParaRPr lang="en-US" sz="1200" dirty="0"/>
          </a:p>
        </p:txBody>
      </p:sp>
      <p:sp>
        <p:nvSpPr>
          <p:cNvPr id="12" name="Shape 10"/>
          <p:cNvSpPr/>
          <p:nvPr/>
        </p:nvSpPr>
        <p:spPr>
          <a:xfrm>
            <a:off x="457200" y="3017520"/>
            <a:ext cx="4023360" cy="685800"/>
          </a:xfrm>
          <a:prstGeom prst="roundRect">
            <a:avLst>
              <a:gd name="adj" fmla="val 10667"/>
            </a:avLst>
          </a:prstGeom>
          <a:solidFill>
            <a:srgbClr val="EDE8DC"/>
          </a:solidFill>
          <a:ln/>
        </p:spPr>
      </p:sp>
      <p:sp>
        <p:nvSpPr>
          <p:cNvPr id="13" name="Text 11"/>
          <p:cNvSpPr/>
          <p:nvPr/>
        </p:nvSpPr>
        <p:spPr>
          <a:xfrm>
            <a:off x="640080" y="3108960"/>
            <a:ext cx="3657600" cy="228600"/>
          </a:xfrm>
          <a:prstGeom prst="rect">
            <a:avLst/>
          </a:prstGeom>
          <a:noFill/>
          <a:ln/>
        </p:spPr>
        <p:txBody>
          <a:bodyPr wrap="square" rtlCol="0" anchor="ctr"/>
          <a:lstStyle/>
          <a:p>
            <a:pPr marL="0" indent="0">
              <a:buNone/>
            </a:pPr>
            <a:r>
              <a:rPr lang="en-US" sz="1400" b="1" dirty="0">
                <a:solidFill>
                  <a:srgbClr val="E85D04"/>
                </a:solidFill>
                <a:latin typeface="Arial" pitchFamily="34" charset="0"/>
                <a:ea typeface="Arial" pitchFamily="34" charset="-122"/>
                <a:cs typeface="Arial" pitchFamily="34" charset="-120"/>
              </a:rPr>
              <a:t>無通訊</a:t>
            </a:r>
            <a:endParaRPr lang="en-US" sz="1400" dirty="0"/>
          </a:p>
        </p:txBody>
      </p:sp>
      <p:sp>
        <p:nvSpPr>
          <p:cNvPr id="14" name="Text 12"/>
          <p:cNvSpPr/>
          <p:nvPr/>
        </p:nvSpPr>
        <p:spPr>
          <a:xfrm>
            <a:off x="640080" y="3364992"/>
            <a:ext cx="3657600" cy="228600"/>
          </a:xfrm>
          <a:prstGeom prst="rect">
            <a:avLst/>
          </a:prstGeom>
          <a:noFill/>
          <a:ln/>
        </p:spPr>
        <p:txBody>
          <a:bodyPr wrap="square" rtlCol="0" anchor="ctr"/>
          <a:lstStyle/>
          <a:p>
            <a:pPr marL="0" indent="0">
              <a:buNone/>
            </a:pPr>
            <a:r>
              <a:rPr lang="en-US" sz="1200" dirty="0">
                <a:solidFill>
                  <a:srgbClr val="3D4A5C"/>
                </a:solidFill>
                <a:latin typeface="Arial" pitchFamily="34" charset="0"/>
                <a:ea typeface="Arial" pitchFamily="34" charset="-122"/>
                <a:cs typeface="Arial" pitchFamily="34" charset="-120"/>
              </a:rPr>
              <a:t>負擔最低，但易發生決策衝突</a:t>
            </a:r>
            <a:endParaRPr lang="en-US" sz="1200" dirty="0"/>
          </a:p>
        </p:txBody>
      </p:sp>
      <p:sp>
        <p:nvSpPr>
          <p:cNvPr id="15" name="Text 13"/>
          <p:cNvSpPr/>
          <p:nvPr/>
        </p:nvSpPr>
        <p:spPr>
          <a:xfrm>
            <a:off x="4846320" y="914400"/>
            <a:ext cx="4023360" cy="320040"/>
          </a:xfrm>
          <a:prstGeom prst="rect">
            <a:avLst/>
          </a:prstGeom>
          <a:noFill/>
          <a:ln/>
        </p:spPr>
        <p:txBody>
          <a:bodyPr wrap="square" rtlCol="0" anchor="ctr"/>
          <a:lstStyle/>
          <a:p>
            <a:pPr marL="0" indent="0">
              <a:buNone/>
            </a:pPr>
            <a:r>
              <a:rPr lang="en-US" sz="1600" b="1" dirty="0">
                <a:solidFill>
                  <a:srgbClr val="1A2332"/>
                </a:solidFill>
                <a:latin typeface="Arial" pitchFamily="34" charset="0"/>
                <a:ea typeface="Arial" pitchFamily="34" charset="-122"/>
                <a:cs typeface="Arial" pitchFamily="34" charset="-120"/>
              </a:rPr>
              <a:t>兩大核心挑戰</a:t>
            </a:r>
            <a:endParaRPr lang="en-US" sz="1600" dirty="0"/>
          </a:p>
        </p:txBody>
      </p:sp>
      <p:sp>
        <p:nvSpPr>
          <p:cNvPr id="16" name="Shape 14"/>
          <p:cNvSpPr/>
          <p:nvPr/>
        </p:nvSpPr>
        <p:spPr>
          <a:xfrm>
            <a:off x="4846320" y="1371600"/>
            <a:ext cx="4023360" cy="1463040"/>
          </a:xfrm>
          <a:prstGeom prst="roundRect">
            <a:avLst>
              <a:gd name="adj" fmla="val 5000"/>
            </a:avLst>
          </a:prstGeom>
          <a:solidFill>
            <a:srgbClr val="EDE8DC"/>
          </a:solidFill>
          <a:ln/>
        </p:spPr>
      </p:sp>
      <p:sp>
        <p:nvSpPr>
          <p:cNvPr id="17" name="Text 15"/>
          <p:cNvSpPr/>
          <p:nvPr/>
        </p:nvSpPr>
        <p:spPr>
          <a:xfrm>
            <a:off x="5029200" y="1508760"/>
            <a:ext cx="3657600" cy="274320"/>
          </a:xfrm>
          <a:prstGeom prst="rect">
            <a:avLst/>
          </a:prstGeom>
          <a:noFill/>
          <a:ln/>
        </p:spPr>
        <p:txBody>
          <a:bodyPr wrap="square" rtlCol="0" anchor="ctr"/>
          <a:lstStyle/>
          <a:p>
            <a:pPr marL="0" indent="0">
              <a:buNone/>
            </a:pPr>
            <a:r>
              <a:rPr lang="en-US" sz="1400" b="1" dirty="0">
                <a:solidFill>
                  <a:srgbClr val="E85D04"/>
                </a:solidFill>
                <a:latin typeface="Arial" pitchFamily="34" charset="0"/>
                <a:ea typeface="Arial" pitchFamily="34" charset="-122"/>
                <a:cs typeface="Arial" pitchFamily="34" charset="-120"/>
              </a:rPr>
              <a:t>非平穩性 Non-stationarity</a:t>
            </a:r>
            <a:endParaRPr lang="en-US" sz="1400" dirty="0"/>
          </a:p>
        </p:txBody>
      </p:sp>
      <p:sp>
        <p:nvSpPr>
          <p:cNvPr id="18" name="Text 16"/>
          <p:cNvSpPr/>
          <p:nvPr/>
        </p:nvSpPr>
        <p:spPr>
          <a:xfrm>
            <a:off x="5029200" y="1874520"/>
            <a:ext cx="3657600" cy="822960"/>
          </a:xfrm>
          <a:prstGeom prst="rect">
            <a:avLst/>
          </a:prstGeom>
          <a:noFill/>
          <a:ln/>
        </p:spPr>
        <p:txBody>
          <a:bodyPr wrap="square" rtlCol="0" anchor="ctr"/>
          <a:lstStyle/>
          <a:p>
            <a:pPr marL="0" indent="0">
              <a:buNone/>
            </a:pPr>
            <a:r>
              <a:rPr lang="en-US" sz="1300" dirty="0">
                <a:solidFill>
                  <a:srgbClr val="3D4A5C"/>
                </a:solidFill>
                <a:latin typeface="Arial" pitchFamily="34" charset="0"/>
                <a:ea typeface="Arial" pitchFamily="34" charset="-122"/>
                <a:cs typeface="Arial" pitchFamily="34" charset="-120"/>
              </a:rPr>
              <a:t>其他機器人也在更新策略，各自面對的環境會持續改變。個體改變行為，也改變同伴的學習環境。</a:t>
            </a:r>
            <a:endParaRPr lang="en-US" sz="1300" dirty="0"/>
          </a:p>
        </p:txBody>
      </p:sp>
      <p:sp>
        <p:nvSpPr>
          <p:cNvPr id="19" name="Shape 17"/>
          <p:cNvSpPr/>
          <p:nvPr/>
        </p:nvSpPr>
        <p:spPr>
          <a:xfrm>
            <a:off x="4846320" y="3017520"/>
            <a:ext cx="4023360" cy="1463040"/>
          </a:xfrm>
          <a:prstGeom prst="roundRect">
            <a:avLst>
              <a:gd name="adj" fmla="val 5000"/>
            </a:avLst>
          </a:prstGeom>
          <a:solidFill>
            <a:srgbClr val="EDE8DC"/>
          </a:solidFill>
          <a:ln/>
        </p:spPr>
      </p:sp>
      <p:sp>
        <p:nvSpPr>
          <p:cNvPr id="20" name="Text 18"/>
          <p:cNvSpPr/>
          <p:nvPr/>
        </p:nvSpPr>
        <p:spPr>
          <a:xfrm>
            <a:off x="5029200" y="3154680"/>
            <a:ext cx="3657600" cy="274320"/>
          </a:xfrm>
          <a:prstGeom prst="rect">
            <a:avLst/>
          </a:prstGeom>
          <a:noFill/>
          <a:ln/>
        </p:spPr>
        <p:txBody>
          <a:bodyPr wrap="square" rtlCol="0" anchor="ctr"/>
          <a:lstStyle/>
          <a:p>
            <a:pPr marL="0" indent="0">
              <a:buNone/>
            </a:pPr>
            <a:r>
              <a:rPr lang="en-US" sz="1400" b="1" dirty="0">
                <a:solidFill>
                  <a:srgbClr val="E85D04"/>
                </a:solidFill>
                <a:latin typeface="Arial" pitchFamily="34" charset="0"/>
                <a:ea typeface="Arial" pitchFamily="34" charset="-122"/>
                <a:cs typeface="Arial" pitchFamily="34" charset="-120"/>
              </a:rPr>
              <a:t>合作停滯</a:t>
            </a:r>
            <a:endParaRPr lang="en-US" sz="1400" dirty="0"/>
          </a:p>
        </p:txBody>
      </p:sp>
      <p:sp>
        <p:nvSpPr>
          <p:cNvPr id="21" name="Text 19"/>
          <p:cNvSpPr/>
          <p:nvPr/>
        </p:nvSpPr>
        <p:spPr>
          <a:xfrm>
            <a:off x="5029200" y="3520440"/>
            <a:ext cx="3657600" cy="822960"/>
          </a:xfrm>
          <a:prstGeom prst="rect">
            <a:avLst/>
          </a:prstGeom>
          <a:noFill/>
          <a:ln/>
        </p:spPr>
        <p:txBody>
          <a:bodyPr wrap="square" rtlCol="0" anchor="ctr"/>
          <a:lstStyle/>
          <a:p>
            <a:pPr marL="0" indent="0">
              <a:buNone/>
            </a:pPr>
            <a:r>
              <a:rPr lang="en-US" sz="1300" dirty="0">
                <a:solidFill>
                  <a:srgbClr val="3D4A5C"/>
                </a:solidFill>
                <a:latin typeface="Arial" pitchFamily="34" charset="0"/>
                <a:ea typeface="Arial" pitchFamily="34" charset="-122"/>
                <a:cs typeface="Arial" pitchFamily="34" charset="-120"/>
              </a:rPr>
              <a:t>只考慮個體最優動作，可能讓整體任務無法前進。包含環境型（撞牆）與非環境型（方向衝突）失敗。</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332"/>
          </a:solidFill>
          <a:ln/>
        </p:spPr>
      </p:sp>
      <p:sp>
        <p:nvSpPr>
          <p:cNvPr id="3" name="Text 1"/>
          <p:cNvSpPr/>
          <p:nvPr/>
        </p:nvSpPr>
        <p:spPr>
          <a:xfrm>
            <a:off x="457200" y="164592"/>
            <a:ext cx="6858000" cy="36576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無通訊下的深度合作學習 DCM</a:t>
            </a:r>
            <a:endParaRPr lang="en-US" sz="1800" dirty="0"/>
          </a:p>
        </p:txBody>
      </p:sp>
      <p:sp>
        <p:nvSpPr>
          <p:cNvPr id="4" name="Text 2"/>
          <p:cNvSpPr/>
          <p:nvPr/>
        </p:nvSpPr>
        <p:spPr>
          <a:xfrm>
            <a:off x="7772400" y="164592"/>
            <a:ext cx="914400" cy="365760"/>
          </a:xfrm>
          <a:prstGeom prst="rect">
            <a:avLst/>
          </a:prstGeom>
          <a:noFill/>
          <a:ln/>
        </p:spPr>
        <p:txBody>
          <a:bodyPr wrap="square" rtlCol="0" anchor="ctr"/>
          <a:lstStyle/>
          <a:p>
            <a:pPr marL="0" indent="0" algn="r">
              <a:buNone/>
            </a:pPr>
            <a:r>
              <a:rPr lang="en-US" sz="1400" dirty="0">
                <a:solidFill>
                  <a:srgbClr val="6B7A8D"/>
                </a:solidFill>
                <a:latin typeface="Arial" pitchFamily="34" charset="0"/>
                <a:ea typeface="Arial" pitchFamily="34" charset="-122"/>
                <a:cs typeface="Arial" pitchFamily="34" charset="-120"/>
              </a:rPr>
              <a:t>07</a:t>
            </a:r>
            <a:endParaRPr lang="en-US" sz="1400" dirty="0"/>
          </a:p>
        </p:txBody>
      </p:sp>
      <p:sp>
        <p:nvSpPr>
          <p:cNvPr id="5" name="Text 3"/>
          <p:cNvSpPr/>
          <p:nvPr/>
        </p:nvSpPr>
        <p:spPr>
          <a:xfrm>
            <a:off x="457200" y="868680"/>
            <a:ext cx="8229600" cy="320040"/>
          </a:xfrm>
          <a:prstGeom prst="rect">
            <a:avLst/>
          </a:prstGeom>
          <a:noFill/>
          <a:ln/>
        </p:spPr>
        <p:txBody>
          <a:bodyPr wrap="square" rtlCol="0" anchor="ctr"/>
          <a:lstStyle/>
          <a:p>
            <a:pPr marL="0" indent="0">
              <a:buNone/>
            </a:pPr>
            <a:r>
              <a:rPr lang="en-US" sz="1500" dirty="0">
                <a:solidFill>
                  <a:srgbClr val="3D4A5C"/>
                </a:solidFill>
                <a:latin typeface="Arial" pitchFamily="34" charset="0"/>
                <a:ea typeface="Arial" pitchFamily="34" charset="-122"/>
                <a:cs typeface="Arial" pitchFamily="34" charset="-120"/>
              </a:rPr>
              <a:t>將個體行動價值（Q）與合作傾向（C）融合，形成更符合群體需求的決策</a:t>
            </a:r>
            <a:endParaRPr lang="en-US" sz="1500" dirty="0"/>
          </a:p>
        </p:txBody>
      </p:sp>
      <p:sp>
        <p:nvSpPr>
          <p:cNvPr id="6" name="Shape 4"/>
          <p:cNvSpPr/>
          <p:nvPr/>
        </p:nvSpPr>
        <p:spPr>
          <a:xfrm>
            <a:off x="457200" y="1371600"/>
            <a:ext cx="2743200" cy="1828800"/>
          </a:xfrm>
          <a:prstGeom prst="roundRect">
            <a:avLst>
              <a:gd name="adj" fmla="val 5000"/>
            </a:avLst>
          </a:prstGeom>
          <a:solidFill>
            <a:srgbClr val="EDE8DC"/>
          </a:solidFill>
          <a:ln w="12700">
            <a:solidFill>
              <a:srgbClr val="D4CBB8"/>
            </a:solidFill>
            <a:prstDash val="solid"/>
          </a:ln>
        </p:spPr>
      </p:sp>
      <p:sp>
        <p:nvSpPr>
          <p:cNvPr id="7" name="Text 5"/>
          <p:cNvSpPr/>
          <p:nvPr/>
        </p:nvSpPr>
        <p:spPr>
          <a:xfrm>
            <a:off x="594360" y="1508760"/>
            <a:ext cx="2468880" cy="274320"/>
          </a:xfrm>
          <a:prstGeom prst="rect">
            <a:avLst/>
          </a:prstGeom>
          <a:noFill/>
          <a:ln/>
        </p:spPr>
        <p:txBody>
          <a:bodyPr wrap="square" rtlCol="0" anchor="ctr"/>
          <a:lstStyle/>
          <a:p>
            <a:pPr marL="0" indent="0">
              <a:buNone/>
            </a:pPr>
            <a:r>
              <a:rPr lang="en-US" sz="1600" b="1" dirty="0">
                <a:solidFill>
                  <a:srgbClr val="E85D04"/>
                </a:solidFill>
                <a:latin typeface="Arial" pitchFamily="34" charset="0"/>
                <a:ea typeface="Arial" pitchFamily="34" charset="-122"/>
                <a:cs typeface="Arial" pitchFamily="34" charset="-120"/>
              </a:rPr>
              <a:t>DQN</a:t>
            </a:r>
            <a:endParaRPr lang="en-US" sz="1600" dirty="0"/>
          </a:p>
        </p:txBody>
      </p:sp>
      <p:sp>
        <p:nvSpPr>
          <p:cNvPr id="8" name="Text 6"/>
          <p:cNvSpPr/>
          <p:nvPr/>
        </p:nvSpPr>
        <p:spPr>
          <a:xfrm>
            <a:off x="594360" y="1828800"/>
            <a:ext cx="2468880" cy="274320"/>
          </a:xfrm>
          <a:prstGeom prst="rect">
            <a:avLst/>
          </a:prstGeom>
          <a:noFill/>
          <a:ln/>
        </p:spPr>
        <p:txBody>
          <a:bodyPr wrap="square" rtlCol="0" anchor="ctr"/>
          <a:lstStyle/>
          <a:p>
            <a:pPr marL="0" indent="0">
              <a:buNone/>
            </a:pPr>
            <a:r>
              <a:rPr lang="en-US" sz="1400" dirty="0">
                <a:solidFill>
                  <a:srgbClr val="1A2332"/>
                </a:solidFill>
                <a:latin typeface="Courier New" pitchFamily="34" charset="0"/>
                <a:ea typeface="Courier New" pitchFamily="34" charset="-122"/>
                <a:cs typeface="Courier New" pitchFamily="34" charset="-120"/>
              </a:rPr>
              <a:t>Q(s, a)</a:t>
            </a:r>
            <a:endParaRPr lang="en-US" sz="1400" dirty="0"/>
          </a:p>
        </p:txBody>
      </p:sp>
      <p:sp>
        <p:nvSpPr>
          <p:cNvPr id="9" name="Text 7"/>
          <p:cNvSpPr/>
          <p:nvPr/>
        </p:nvSpPr>
        <p:spPr>
          <a:xfrm>
            <a:off x="594360" y="2286000"/>
            <a:ext cx="2468880" cy="731520"/>
          </a:xfrm>
          <a:prstGeom prst="rect">
            <a:avLst/>
          </a:prstGeom>
          <a:noFill/>
          <a:ln/>
        </p:spPr>
        <p:txBody>
          <a:bodyPr wrap="square" rtlCol="0" anchor="ctr"/>
          <a:lstStyle/>
          <a:p>
            <a:pPr marL="0" indent="0">
              <a:buNone/>
            </a:pPr>
            <a:r>
              <a:rPr lang="en-US" sz="1300" dirty="0">
                <a:solidFill>
                  <a:srgbClr val="3D4A5C"/>
                </a:solidFill>
                <a:latin typeface="Arial" pitchFamily="34" charset="0"/>
                <a:ea typeface="Arial" pitchFamily="34" charset="-122"/>
                <a:cs typeface="Arial" pitchFamily="34" charset="-120"/>
              </a:rPr>
              <a:t>負責進行決策，估計狀態-動作價值</a:t>
            </a:r>
            <a:endParaRPr lang="en-US" sz="1300" dirty="0"/>
          </a:p>
        </p:txBody>
      </p:sp>
      <p:sp>
        <p:nvSpPr>
          <p:cNvPr id="10" name="Shape 8"/>
          <p:cNvSpPr/>
          <p:nvPr/>
        </p:nvSpPr>
        <p:spPr>
          <a:xfrm>
            <a:off x="3337560" y="1371600"/>
            <a:ext cx="2743200" cy="1828800"/>
          </a:xfrm>
          <a:prstGeom prst="roundRect">
            <a:avLst>
              <a:gd name="adj" fmla="val 5000"/>
            </a:avLst>
          </a:prstGeom>
          <a:solidFill>
            <a:srgbClr val="EDE8DC"/>
          </a:solidFill>
          <a:ln w="12700">
            <a:solidFill>
              <a:srgbClr val="D4CBB8"/>
            </a:solidFill>
            <a:prstDash val="solid"/>
          </a:ln>
        </p:spPr>
      </p:sp>
      <p:sp>
        <p:nvSpPr>
          <p:cNvPr id="11" name="Text 9"/>
          <p:cNvSpPr/>
          <p:nvPr/>
        </p:nvSpPr>
        <p:spPr>
          <a:xfrm>
            <a:off x="3474720" y="1508760"/>
            <a:ext cx="2468880" cy="274320"/>
          </a:xfrm>
          <a:prstGeom prst="rect">
            <a:avLst/>
          </a:prstGeom>
          <a:noFill/>
          <a:ln/>
        </p:spPr>
        <p:txBody>
          <a:bodyPr wrap="square" rtlCol="0" anchor="ctr"/>
          <a:lstStyle/>
          <a:p>
            <a:pPr marL="0" indent="0">
              <a:buNone/>
            </a:pPr>
            <a:r>
              <a:rPr lang="en-US" sz="1600" b="1" dirty="0">
                <a:solidFill>
                  <a:srgbClr val="E85D04"/>
                </a:solidFill>
                <a:latin typeface="Arial" pitchFamily="34" charset="0"/>
                <a:ea typeface="Arial" pitchFamily="34" charset="-122"/>
                <a:cs typeface="Arial" pitchFamily="34" charset="-120"/>
              </a:rPr>
              <a:t>DCM</a:t>
            </a:r>
            <a:endParaRPr lang="en-US" sz="1600" dirty="0"/>
          </a:p>
        </p:txBody>
      </p:sp>
      <p:sp>
        <p:nvSpPr>
          <p:cNvPr id="12" name="Text 10"/>
          <p:cNvSpPr/>
          <p:nvPr/>
        </p:nvSpPr>
        <p:spPr>
          <a:xfrm>
            <a:off x="3474720" y="1828800"/>
            <a:ext cx="2468880" cy="274320"/>
          </a:xfrm>
          <a:prstGeom prst="rect">
            <a:avLst/>
          </a:prstGeom>
          <a:noFill/>
          <a:ln/>
        </p:spPr>
        <p:txBody>
          <a:bodyPr wrap="square" rtlCol="0" anchor="ctr"/>
          <a:lstStyle/>
          <a:p>
            <a:pPr marL="0" indent="0">
              <a:buNone/>
            </a:pPr>
            <a:r>
              <a:rPr lang="en-US" sz="1400" dirty="0">
                <a:solidFill>
                  <a:srgbClr val="1A2332"/>
                </a:solidFill>
                <a:latin typeface="Courier New" pitchFamily="34" charset="0"/>
                <a:ea typeface="Courier New" pitchFamily="34" charset="-122"/>
                <a:cs typeface="Courier New" pitchFamily="34" charset="-120"/>
              </a:rPr>
              <a:t>C(s, a)</a:t>
            </a:r>
            <a:endParaRPr lang="en-US" sz="1400" dirty="0"/>
          </a:p>
        </p:txBody>
      </p:sp>
      <p:sp>
        <p:nvSpPr>
          <p:cNvPr id="13" name="Text 11"/>
          <p:cNvSpPr/>
          <p:nvPr/>
        </p:nvSpPr>
        <p:spPr>
          <a:xfrm>
            <a:off x="3474720" y="2286000"/>
            <a:ext cx="2468880" cy="731520"/>
          </a:xfrm>
          <a:prstGeom prst="rect">
            <a:avLst/>
          </a:prstGeom>
          <a:noFill/>
          <a:ln/>
        </p:spPr>
        <p:txBody>
          <a:bodyPr wrap="square" rtlCol="0" anchor="ctr"/>
          <a:lstStyle/>
          <a:p>
            <a:pPr marL="0" indent="0">
              <a:buNone/>
            </a:pPr>
            <a:r>
              <a:rPr lang="en-US" sz="1300" dirty="0">
                <a:solidFill>
                  <a:srgbClr val="3D4A5C"/>
                </a:solidFill>
                <a:latin typeface="Arial" pitchFamily="34" charset="0"/>
                <a:ea typeface="Arial" pitchFamily="34" charset="-122"/>
                <a:cs typeface="Arial" pitchFamily="34" charset="-120"/>
              </a:rPr>
              <a:t>模擬其他代理人意圖，輸出合作傾向值 ∈ [0,1]</a:t>
            </a:r>
            <a:endParaRPr lang="en-US" sz="1300" dirty="0"/>
          </a:p>
        </p:txBody>
      </p:sp>
      <p:sp>
        <p:nvSpPr>
          <p:cNvPr id="14" name="Shape 12"/>
          <p:cNvSpPr/>
          <p:nvPr/>
        </p:nvSpPr>
        <p:spPr>
          <a:xfrm>
            <a:off x="6217920" y="1371600"/>
            <a:ext cx="2743200" cy="1828800"/>
          </a:xfrm>
          <a:prstGeom prst="roundRect">
            <a:avLst>
              <a:gd name="adj" fmla="val 5000"/>
            </a:avLst>
          </a:prstGeom>
          <a:solidFill>
            <a:srgbClr val="EDE8DC"/>
          </a:solidFill>
          <a:ln w="12700">
            <a:solidFill>
              <a:srgbClr val="D4CBB8"/>
            </a:solidFill>
            <a:prstDash val="solid"/>
          </a:ln>
        </p:spPr>
      </p:sp>
      <p:sp>
        <p:nvSpPr>
          <p:cNvPr id="15" name="Text 13"/>
          <p:cNvSpPr/>
          <p:nvPr/>
        </p:nvSpPr>
        <p:spPr>
          <a:xfrm>
            <a:off x="6355080" y="1508760"/>
            <a:ext cx="2468880" cy="274320"/>
          </a:xfrm>
          <a:prstGeom prst="rect">
            <a:avLst/>
          </a:prstGeom>
          <a:noFill/>
          <a:ln/>
        </p:spPr>
        <p:txBody>
          <a:bodyPr wrap="square" rtlCol="0" anchor="ctr"/>
          <a:lstStyle/>
          <a:p>
            <a:pPr marL="0" indent="0">
              <a:buNone/>
            </a:pPr>
            <a:r>
              <a:rPr lang="en-US" sz="1600" b="1" dirty="0">
                <a:solidFill>
                  <a:srgbClr val="E85D04"/>
                </a:solidFill>
                <a:latin typeface="Arial" pitchFamily="34" charset="0"/>
                <a:ea typeface="Arial" pitchFamily="34" charset="-122"/>
                <a:cs typeface="Arial" pitchFamily="34" charset="-120"/>
              </a:rPr>
              <a:t>ADF</a:t>
            </a:r>
            <a:endParaRPr lang="en-US" sz="1600" dirty="0"/>
          </a:p>
        </p:txBody>
      </p:sp>
      <p:sp>
        <p:nvSpPr>
          <p:cNvPr id="16" name="Text 14"/>
          <p:cNvSpPr/>
          <p:nvPr/>
        </p:nvSpPr>
        <p:spPr>
          <a:xfrm>
            <a:off x="6355080" y="1828800"/>
            <a:ext cx="2468880" cy="274320"/>
          </a:xfrm>
          <a:prstGeom prst="rect">
            <a:avLst/>
          </a:prstGeom>
          <a:noFill/>
          <a:ln/>
        </p:spPr>
        <p:txBody>
          <a:bodyPr wrap="square" rtlCol="0" anchor="ctr"/>
          <a:lstStyle/>
          <a:p>
            <a:pPr marL="0" indent="0">
              <a:buNone/>
            </a:pPr>
            <a:r>
              <a:rPr lang="en-US" sz="1400" dirty="0">
                <a:solidFill>
                  <a:srgbClr val="1A2332"/>
                </a:solidFill>
                <a:latin typeface="Courier New" pitchFamily="34" charset="0"/>
                <a:ea typeface="Courier New" pitchFamily="34" charset="-122"/>
                <a:cs typeface="Courier New" pitchFamily="34" charset="-120"/>
              </a:rPr>
              <a:t>價值融合</a:t>
            </a:r>
            <a:endParaRPr lang="en-US" sz="1400" dirty="0"/>
          </a:p>
        </p:txBody>
      </p:sp>
      <p:sp>
        <p:nvSpPr>
          <p:cNvPr id="17" name="Text 15"/>
          <p:cNvSpPr/>
          <p:nvPr/>
        </p:nvSpPr>
        <p:spPr>
          <a:xfrm>
            <a:off x="6355080" y="2286000"/>
            <a:ext cx="2468880" cy="731520"/>
          </a:xfrm>
          <a:prstGeom prst="rect">
            <a:avLst/>
          </a:prstGeom>
          <a:noFill/>
          <a:ln/>
        </p:spPr>
        <p:txBody>
          <a:bodyPr wrap="square" rtlCol="0" anchor="ctr"/>
          <a:lstStyle/>
          <a:p>
            <a:pPr marL="0" indent="0">
              <a:buNone/>
            </a:pPr>
            <a:r>
              <a:rPr lang="en-US" sz="1300" dirty="0">
                <a:solidFill>
                  <a:srgbClr val="3D4A5C"/>
                </a:solidFill>
                <a:latin typeface="Arial" pitchFamily="34" charset="0"/>
                <a:ea typeface="Arial" pitchFamily="34" charset="-122"/>
                <a:cs typeface="Arial" pitchFamily="34" charset="-120"/>
              </a:rPr>
              <a:t>融合 Q 與 C，輸出最終行動</a:t>
            </a:r>
            <a:endParaRPr lang="en-US" sz="1300" dirty="0"/>
          </a:p>
        </p:txBody>
      </p:sp>
      <p:sp>
        <p:nvSpPr>
          <p:cNvPr id="18" name="Text 16"/>
          <p:cNvSpPr/>
          <p:nvPr/>
        </p:nvSpPr>
        <p:spPr>
          <a:xfrm>
            <a:off x="457200" y="3429000"/>
            <a:ext cx="8229600" cy="274320"/>
          </a:xfrm>
          <a:prstGeom prst="rect">
            <a:avLst/>
          </a:prstGeom>
          <a:noFill/>
          <a:ln/>
        </p:spPr>
        <p:txBody>
          <a:bodyPr wrap="square" rtlCol="0" anchor="ctr"/>
          <a:lstStyle/>
          <a:p>
            <a:pPr marL="0" indent="0">
              <a:buNone/>
            </a:pPr>
            <a:r>
              <a:rPr lang="en-US" sz="1500" b="1" dirty="0">
                <a:solidFill>
                  <a:srgbClr val="1A2332"/>
                </a:solidFill>
                <a:latin typeface="Arial" pitchFamily="34" charset="0"/>
                <a:ea typeface="Arial" pitchFamily="34" charset="-122"/>
                <a:cs typeface="Arial" pitchFamily="34" charset="-120"/>
              </a:rPr>
              <a:t>C 值更新規則</a:t>
            </a:r>
            <a:endParaRPr lang="en-US" sz="1500" dirty="0"/>
          </a:p>
        </p:txBody>
      </p:sp>
      <p:sp>
        <p:nvSpPr>
          <p:cNvPr id="19" name="Text 17"/>
          <p:cNvSpPr/>
          <p:nvPr/>
        </p:nvSpPr>
        <p:spPr>
          <a:xfrm>
            <a:off x="457200" y="3794760"/>
            <a:ext cx="8229600" cy="365760"/>
          </a:xfrm>
          <a:prstGeom prst="rect">
            <a:avLst/>
          </a:prstGeom>
          <a:noFill/>
          <a:ln/>
        </p:spPr>
        <p:txBody>
          <a:bodyPr wrap="square" rtlCol="0" anchor="ctr"/>
          <a:lstStyle/>
          <a:p>
            <a:pPr marL="0" indent="0">
              <a:buNone/>
            </a:pPr>
            <a:r>
              <a:rPr lang="en-US" sz="1400" dirty="0">
                <a:solidFill>
                  <a:srgbClr val="3D4A5C"/>
                </a:solidFill>
                <a:latin typeface="Courier New" pitchFamily="34" charset="0"/>
                <a:ea typeface="Courier New" pitchFamily="34" charset="-122"/>
                <a:cs typeface="Courier New" pitchFamily="34" charset="-120"/>
              </a:rPr>
              <a:t>發生停滯／失敗：  Cₜ₊₁ = Cₜ − ρₗ Cₜ　　　無停滯：  Cₜ₊₁ = Cₜ + ρᵤ (1 − Cₜ)</a:t>
            </a:r>
            <a:endParaRPr lang="en-US" sz="1400" dirty="0"/>
          </a:p>
        </p:txBody>
      </p:sp>
      <p:sp>
        <p:nvSpPr>
          <p:cNvPr id="20" name="Text 18"/>
          <p:cNvSpPr/>
          <p:nvPr/>
        </p:nvSpPr>
        <p:spPr>
          <a:xfrm>
            <a:off x="457200" y="4297680"/>
            <a:ext cx="8229600" cy="274320"/>
          </a:xfrm>
          <a:prstGeom prst="rect">
            <a:avLst/>
          </a:prstGeom>
          <a:noFill/>
          <a:ln/>
        </p:spPr>
        <p:txBody>
          <a:bodyPr wrap="square" rtlCol="0" anchor="ctr"/>
          <a:lstStyle/>
          <a:p>
            <a:pPr marL="0" indent="0">
              <a:buNone/>
            </a:pPr>
            <a:r>
              <a:rPr lang="en-US" sz="1400" i="1" dirty="0">
                <a:solidFill>
                  <a:srgbClr val="E85D04"/>
                </a:solidFill>
                <a:latin typeface="Arial" pitchFamily="34" charset="0"/>
                <a:ea typeface="Arial" pitchFamily="34" charset="-122"/>
                <a:cs typeface="Arial" pitchFamily="34" charset="-120"/>
              </a:rPr>
              <a:t>讓機器人「估計合作」，而不只是「追求自己的 Q 值」</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332"/>
          </a:solidFill>
          <a:ln/>
        </p:spPr>
      </p:sp>
      <p:sp>
        <p:nvSpPr>
          <p:cNvPr id="3" name="Text 1"/>
          <p:cNvSpPr/>
          <p:nvPr/>
        </p:nvSpPr>
        <p:spPr>
          <a:xfrm>
            <a:off x="457200" y="164592"/>
            <a:ext cx="6858000" cy="36576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階層式強化學習與行為融合</a:t>
            </a:r>
            <a:endParaRPr lang="en-US" sz="1800" dirty="0"/>
          </a:p>
        </p:txBody>
      </p:sp>
      <p:sp>
        <p:nvSpPr>
          <p:cNvPr id="4" name="Text 2"/>
          <p:cNvSpPr/>
          <p:nvPr/>
        </p:nvSpPr>
        <p:spPr>
          <a:xfrm>
            <a:off x="7772400" y="164592"/>
            <a:ext cx="914400" cy="365760"/>
          </a:xfrm>
          <a:prstGeom prst="rect">
            <a:avLst/>
          </a:prstGeom>
          <a:noFill/>
          <a:ln/>
        </p:spPr>
        <p:txBody>
          <a:bodyPr wrap="square" rtlCol="0" anchor="ctr"/>
          <a:lstStyle/>
          <a:p>
            <a:pPr marL="0" indent="0" algn="r">
              <a:buNone/>
            </a:pPr>
            <a:r>
              <a:rPr lang="en-US" sz="1400" dirty="0">
                <a:solidFill>
                  <a:srgbClr val="6B7A8D"/>
                </a:solidFill>
                <a:latin typeface="Arial" pitchFamily="34" charset="0"/>
                <a:ea typeface="Arial" pitchFamily="34" charset="-122"/>
                <a:cs typeface="Arial" pitchFamily="34" charset="-120"/>
              </a:rPr>
              <a:t>08</a:t>
            </a:r>
            <a:endParaRPr lang="en-US" sz="1400" dirty="0"/>
          </a:p>
        </p:txBody>
      </p:sp>
      <p:sp>
        <p:nvSpPr>
          <p:cNvPr id="5" name="Text 3"/>
          <p:cNvSpPr/>
          <p:nvPr/>
        </p:nvSpPr>
        <p:spPr>
          <a:xfrm>
            <a:off x="457200" y="868680"/>
            <a:ext cx="8229600" cy="320040"/>
          </a:xfrm>
          <a:prstGeom prst="rect">
            <a:avLst/>
          </a:prstGeom>
          <a:noFill/>
          <a:ln/>
        </p:spPr>
        <p:txBody>
          <a:bodyPr wrap="square" rtlCol="0" anchor="ctr"/>
          <a:lstStyle/>
          <a:p>
            <a:pPr marL="0" indent="0">
              <a:buNone/>
            </a:pPr>
            <a:r>
              <a:rPr lang="en-US" sz="1500" dirty="0">
                <a:solidFill>
                  <a:srgbClr val="3D4A5C"/>
                </a:solidFill>
                <a:latin typeface="Arial" pitchFamily="34" charset="0"/>
                <a:ea typeface="Arial" pitchFamily="34" charset="-122"/>
                <a:cs typeface="Arial" pitchFamily="34" charset="-120"/>
              </a:rPr>
              <a:t>複雜任務不適合只靠單一策略 → 分解為可重用子行為再融合</a:t>
            </a:r>
            <a:endParaRPr lang="en-US" sz="1500" dirty="0"/>
          </a:p>
        </p:txBody>
      </p:sp>
      <p:sp>
        <p:nvSpPr>
          <p:cNvPr id="6" name="Shape 4"/>
          <p:cNvSpPr/>
          <p:nvPr/>
        </p:nvSpPr>
        <p:spPr>
          <a:xfrm>
            <a:off x="457200" y="1371600"/>
            <a:ext cx="4023360" cy="2103120"/>
          </a:xfrm>
          <a:prstGeom prst="roundRect">
            <a:avLst>
              <a:gd name="adj" fmla="val 4348"/>
            </a:avLst>
          </a:prstGeom>
          <a:solidFill>
            <a:srgbClr val="EDE8DC"/>
          </a:solidFill>
          <a:ln/>
        </p:spPr>
      </p:sp>
      <p:sp>
        <p:nvSpPr>
          <p:cNvPr id="7" name="Text 5"/>
          <p:cNvSpPr/>
          <p:nvPr/>
        </p:nvSpPr>
        <p:spPr>
          <a:xfrm>
            <a:off x="640080" y="1508760"/>
            <a:ext cx="3657600" cy="320040"/>
          </a:xfrm>
          <a:prstGeom prst="rect">
            <a:avLst/>
          </a:prstGeom>
          <a:noFill/>
          <a:ln/>
        </p:spPr>
        <p:txBody>
          <a:bodyPr wrap="square" rtlCol="0" anchor="ctr"/>
          <a:lstStyle/>
          <a:p>
            <a:pPr marL="0" indent="0">
              <a:buNone/>
            </a:pPr>
            <a:r>
              <a:rPr lang="en-US" sz="1600" b="1" dirty="0">
                <a:solidFill>
                  <a:srgbClr val="1A2332"/>
                </a:solidFill>
                <a:latin typeface="Arial" pitchFamily="34" charset="0"/>
                <a:ea typeface="Arial" pitchFamily="34" charset="-122"/>
                <a:cs typeface="Arial" pitchFamily="34" charset="-120"/>
              </a:rPr>
              <a:t>平面式學習</a:t>
            </a:r>
            <a:endParaRPr lang="en-US" sz="1600" dirty="0"/>
          </a:p>
        </p:txBody>
      </p:sp>
      <p:sp>
        <p:nvSpPr>
          <p:cNvPr id="8" name="Text 6"/>
          <p:cNvSpPr/>
          <p:nvPr/>
        </p:nvSpPr>
        <p:spPr>
          <a:xfrm>
            <a:off x="640080" y="1965960"/>
            <a:ext cx="3657600" cy="128016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單一策略同時學全部技能，可能面對高維度狀態、複雜回饋與學習干擾。每個時間步直接選擇動作。</a:t>
            </a:r>
            <a:endParaRPr lang="en-US" sz="1400" dirty="0"/>
          </a:p>
        </p:txBody>
      </p:sp>
      <p:sp>
        <p:nvSpPr>
          <p:cNvPr id="9" name="Shape 7"/>
          <p:cNvSpPr/>
          <p:nvPr/>
        </p:nvSpPr>
        <p:spPr>
          <a:xfrm>
            <a:off x="4663440" y="1371600"/>
            <a:ext cx="4023360" cy="2103120"/>
          </a:xfrm>
          <a:prstGeom prst="roundRect">
            <a:avLst>
              <a:gd name="adj" fmla="val 4348"/>
            </a:avLst>
          </a:prstGeom>
          <a:solidFill>
            <a:srgbClr val="EDE8DC"/>
          </a:solidFill>
          <a:ln/>
        </p:spPr>
      </p:sp>
      <p:sp>
        <p:nvSpPr>
          <p:cNvPr id="10" name="Text 8"/>
          <p:cNvSpPr/>
          <p:nvPr/>
        </p:nvSpPr>
        <p:spPr>
          <a:xfrm>
            <a:off x="4846320" y="1508760"/>
            <a:ext cx="3657600" cy="320040"/>
          </a:xfrm>
          <a:prstGeom prst="rect">
            <a:avLst/>
          </a:prstGeom>
          <a:noFill/>
          <a:ln/>
        </p:spPr>
        <p:txBody>
          <a:bodyPr wrap="square" rtlCol="0" anchor="ctr"/>
          <a:lstStyle/>
          <a:p>
            <a:pPr marL="0" indent="0">
              <a:buNone/>
            </a:pPr>
            <a:r>
              <a:rPr lang="en-US" sz="1600" b="1" dirty="0">
                <a:solidFill>
                  <a:srgbClr val="E85D04"/>
                </a:solidFill>
                <a:latin typeface="Arial" pitchFamily="34" charset="0"/>
                <a:ea typeface="Arial" pitchFamily="34" charset="-122"/>
                <a:cs typeface="Arial" pitchFamily="34" charset="-120"/>
              </a:rPr>
              <a:t>階層式學習</a:t>
            </a:r>
            <a:endParaRPr lang="en-US" sz="1600" dirty="0"/>
          </a:p>
        </p:txBody>
      </p:sp>
      <p:sp>
        <p:nvSpPr>
          <p:cNvPr id="11" name="Text 9"/>
          <p:cNvSpPr/>
          <p:nvPr/>
        </p:nvSpPr>
        <p:spPr>
          <a:xfrm>
            <a:off x="4846320" y="1965960"/>
            <a:ext cx="3657600" cy="1280160"/>
          </a:xfrm>
          <a:prstGeom prst="rect">
            <a:avLst/>
          </a:prstGeom>
          <a:noFill/>
          <a:ln/>
        </p:spPr>
        <p:txBody>
          <a:bodyPr wrap="square" rtlCol="0" anchor="ctr"/>
          <a:lstStyle/>
          <a:p>
            <a:pPr marL="0" indent="0">
              <a:buNone/>
            </a:pPr>
            <a:r>
              <a:rPr lang="en-US" sz="1400" dirty="0">
                <a:solidFill>
                  <a:srgbClr val="3D4A5C"/>
                </a:solidFill>
                <a:latin typeface="Arial" pitchFamily="34" charset="0"/>
                <a:ea typeface="Arial" pitchFamily="34" charset="-122"/>
                <a:cs typeface="Arial" pitchFamily="34" charset="-120"/>
              </a:rPr>
              <a:t>將任務分成可重用的子行為，再依情境選擇、融合或指派。支援技能重複使用，減少重複學習。</a:t>
            </a:r>
            <a:endParaRPr lang="en-US" sz="1400" dirty="0"/>
          </a:p>
        </p:txBody>
      </p:sp>
      <p:sp>
        <p:nvSpPr>
          <p:cNvPr id="12" name="Text 10"/>
          <p:cNvSpPr/>
          <p:nvPr/>
        </p:nvSpPr>
        <p:spPr>
          <a:xfrm>
            <a:off x="457200" y="3657600"/>
            <a:ext cx="8229600" cy="274320"/>
          </a:xfrm>
          <a:prstGeom prst="rect">
            <a:avLst/>
          </a:prstGeom>
          <a:noFill/>
          <a:ln/>
        </p:spPr>
        <p:txBody>
          <a:bodyPr wrap="square" rtlCol="0" anchor="ctr"/>
          <a:lstStyle/>
          <a:p>
            <a:pPr marL="0" indent="0">
              <a:buNone/>
            </a:pPr>
            <a:r>
              <a:rPr lang="en-US" sz="1400" b="1" dirty="0">
                <a:solidFill>
                  <a:srgbClr val="1A2332"/>
                </a:solidFill>
                <a:latin typeface="Arial" pitchFamily="34" charset="0"/>
                <a:ea typeface="Arial" pitchFamily="34" charset="-122"/>
                <a:cs typeface="Arial" pitchFamily="34" charset="-120"/>
              </a:rPr>
              <a:t>典型子技能模組</a:t>
            </a:r>
            <a:endParaRPr lang="en-US" sz="1400" dirty="0"/>
          </a:p>
        </p:txBody>
      </p:sp>
      <p:sp>
        <p:nvSpPr>
          <p:cNvPr id="13" name="Shape 11"/>
          <p:cNvSpPr/>
          <p:nvPr/>
        </p:nvSpPr>
        <p:spPr>
          <a:xfrm>
            <a:off x="457200" y="4023360"/>
            <a:ext cx="1600200" cy="457200"/>
          </a:xfrm>
          <a:prstGeom prst="roundRect">
            <a:avLst>
              <a:gd name="adj" fmla="val 16000"/>
            </a:avLst>
          </a:prstGeom>
          <a:solidFill>
            <a:srgbClr val="E85D04"/>
          </a:solidFill>
          <a:ln/>
        </p:spPr>
      </p:sp>
      <p:sp>
        <p:nvSpPr>
          <p:cNvPr id="14" name="Text 12"/>
          <p:cNvSpPr/>
          <p:nvPr/>
        </p:nvSpPr>
        <p:spPr>
          <a:xfrm>
            <a:off x="457200" y="4023360"/>
            <a:ext cx="1600200"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導航與定位</a:t>
            </a:r>
            <a:endParaRPr lang="en-US" sz="1200" dirty="0"/>
          </a:p>
        </p:txBody>
      </p:sp>
      <p:sp>
        <p:nvSpPr>
          <p:cNvPr id="15" name="Shape 13"/>
          <p:cNvSpPr/>
          <p:nvPr/>
        </p:nvSpPr>
        <p:spPr>
          <a:xfrm>
            <a:off x="2148840" y="4023360"/>
            <a:ext cx="1600200" cy="457200"/>
          </a:xfrm>
          <a:prstGeom prst="roundRect">
            <a:avLst>
              <a:gd name="adj" fmla="val 16000"/>
            </a:avLst>
          </a:prstGeom>
          <a:solidFill>
            <a:srgbClr val="1E5FFF"/>
          </a:solidFill>
          <a:ln/>
        </p:spPr>
      </p:sp>
      <p:sp>
        <p:nvSpPr>
          <p:cNvPr id="16" name="Text 14"/>
          <p:cNvSpPr/>
          <p:nvPr/>
        </p:nvSpPr>
        <p:spPr>
          <a:xfrm>
            <a:off x="2148840" y="4023360"/>
            <a:ext cx="1600200"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避障與安全</a:t>
            </a:r>
            <a:endParaRPr lang="en-US" sz="1200" dirty="0"/>
          </a:p>
        </p:txBody>
      </p:sp>
      <p:sp>
        <p:nvSpPr>
          <p:cNvPr id="17" name="Shape 15"/>
          <p:cNvSpPr/>
          <p:nvPr/>
        </p:nvSpPr>
        <p:spPr>
          <a:xfrm>
            <a:off x="3840480" y="4023360"/>
            <a:ext cx="1600200" cy="457200"/>
          </a:xfrm>
          <a:prstGeom prst="roundRect">
            <a:avLst>
              <a:gd name="adj" fmla="val 16000"/>
            </a:avLst>
          </a:prstGeom>
          <a:solidFill>
            <a:srgbClr val="E85D04"/>
          </a:solidFill>
          <a:ln/>
        </p:spPr>
      </p:sp>
      <p:sp>
        <p:nvSpPr>
          <p:cNvPr id="18" name="Text 16"/>
          <p:cNvSpPr/>
          <p:nvPr/>
        </p:nvSpPr>
        <p:spPr>
          <a:xfrm>
            <a:off x="3840480" y="4023360"/>
            <a:ext cx="1600200"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進攻行為</a:t>
            </a:r>
            <a:endParaRPr lang="en-US" sz="1200" dirty="0"/>
          </a:p>
        </p:txBody>
      </p:sp>
      <p:sp>
        <p:nvSpPr>
          <p:cNvPr id="19" name="Shape 17"/>
          <p:cNvSpPr/>
          <p:nvPr/>
        </p:nvSpPr>
        <p:spPr>
          <a:xfrm>
            <a:off x="5532120" y="4023360"/>
            <a:ext cx="1600200" cy="457200"/>
          </a:xfrm>
          <a:prstGeom prst="roundRect">
            <a:avLst>
              <a:gd name="adj" fmla="val 16000"/>
            </a:avLst>
          </a:prstGeom>
          <a:solidFill>
            <a:srgbClr val="1E5FFF"/>
          </a:solidFill>
          <a:ln/>
        </p:spPr>
      </p:sp>
      <p:sp>
        <p:nvSpPr>
          <p:cNvPr id="20" name="Text 18"/>
          <p:cNvSpPr/>
          <p:nvPr/>
        </p:nvSpPr>
        <p:spPr>
          <a:xfrm>
            <a:off x="5532120" y="4023360"/>
            <a:ext cx="1600200"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防守行為</a:t>
            </a:r>
            <a:endParaRPr lang="en-US" sz="1200" dirty="0"/>
          </a:p>
        </p:txBody>
      </p:sp>
      <p:sp>
        <p:nvSpPr>
          <p:cNvPr id="21" name="Shape 19"/>
          <p:cNvSpPr/>
          <p:nvPr/>
        </p:nvSpPr>
        <p:spPr>
          <a:xfrm>
            <a:off x="7223760" y="4023360"/>
            <a:ext cx="1600200" cy="457200"/>
          </a:xfrm>
          <a:prstGeom prst="roundRect">
            <a:avLst>
              <a:gd name="adj" fmla="val 16000"/>
            </a:avLst>
          </a:prstGeom>
          <a:solidFill>
            <a:srgbClr val="E85D04"/>
          </a:solidFill>
          <a:ln/>
        </p:spPr>
      </p:sp>
      <p:sp>
        <p:nvSpPr>
          <p:cNvPr id="22" name="Text 20"/>
          <p:cNvSpPr/>
          <p:nvPr/>
        </p:nvSpPr>
        <p:spPr>
          <a:xfrm>
            <a:off x="7223760" y="4023360"/>
            <a:ext cx="1600200"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合作搬運</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332"/>
          </a:solidFill>
          <a:ln/>
        </p:spPr>
      </p:sp>
      <p:sp>
        <p:nvSpPr>
          <p:cNvPr id="3" name="Text 1"/>
          <p:cNvSpPr/>
          <p:nvPr/>
        </p:nvSpPr>
        <p:spPr>
          <a:xfrm>
            <a:off x="457200" y="164592"/>
            <a:ext cx="6858000" cy="36576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實驗驗證  Experiments</a:t>
            </a:r>
            <a:endParaRPr lang="en-US" sz="1800" dirty="0"/>
          </a:p>
        </p:txBody>
      </p:sp>
      <p:sp>
        <p:nvSpPr>
          <p:cNvPr id="4" name="Text 2"/>
          <p:cNvSpPr/>
          <p:nvPr/>
        </p:nvSpPr>
        <p:spPr>
          <a:xfrm>
            <a:off x="7772400" y="164592"/>
            <a:ext cx="914400" cy="365760"/>
          </a:xfrm>
          <a:prstGeom prst="rect">
            <a:avLst/>
          </a:prstGeom>
          <a:noFill/>
          <a:ln/>
        </p:spPr>
        <p:txBody>
          <a:bodyPr wrap="square" rtlCol="0" anchor="ctr"/>
          <a:lstStyle/>
          <a:p>
            <a:pPr marL="0" indent="0" algn="r">
              <a:buNone/>
            </a:pPr>
            <a:r>
              <a:rPr lang="en-US" sz="1400" dirty="0">
                <a:solidFill>
                  <a:srgbClr val="6B7A8D"/>
                </a:solidFill>
                <a:latin typeface="Arial" pitchFamily="34" charset="0"/>
                <a:ea typeface="Arial" pitchFamily="34" charset="-122"/>
                <a:cs typeface="Arial" pitchFamily="34" charset="-120"/>
              </a:rPr>
              <a:t>09</a:t>
            </a:r>
            <a:endParaRPr lang="en-US" sz="1400" dirty="0"/>
          </a:p>
        </p:txBody>
      </p:sp>
      <p:sp>
        <p:nvSpPr>
          <p:cNvPr id="5" name="Shape 3"/>
          <p:cNvSpPr/>
          <p:nvPr/>
        </p:nvSpPr>
        <p:spPr>
          <a:xfrm>
            <a:off x="457200" y="1005840"/>
            <a:ext cx="4114800" cy="1554480"/>
          </a:xfrm>
          <a:prstGeom prst="roundRect">
            <a:avLst>
              <a:gd name="adj" fmla="val 5882"/>
            </a:avLst>
          </a:prstGeom>
          <a:solidFill>
            <a:srgbClr val="EDE8DC"/>
          </a:solidFill>
          <a:ln/>
        </p:spPr>
      </p:sp>
      <p:sp>
        <p:nvSpPr>
          <p:cNvPr id="6" name="Text 4"/>
          <p:cNvSpPr/>
          <p:nvPr/>
        </p:nvSpPr>
        <p:spPr>
          <a:xfrm>
            <a:off x="640080" y="1188720"/>
            <a:ext cx="3749040" cy="320040"/>
          </a:xfrm>
          <a:prstGeom prst="rect">
            <a:avLst/>
          </a:prstGeom>
          <a:noFill/>
          <a:ln/>
        </p:spPr>
        <p:txBody>
          <a:bodyPr wrap="square" rtlCol="0" anchor="ctr"/>
          <a:lstStyle/>
          <a:p>
            <a:pPr marL="0" indent="0">
              <a:buNone/>
            </a:pPr>
            <a:r>
              <a:rPr lang="en-US" sz="1600" b="1" dirty="0">
                <a:solidFill>
                  <a:srgbClr val="E85D04"/>
                </a:solidFill>
                <a:latin typeface="Arial" pitchFamily="34" charset="0"/>
                <a:ea typeface="Arial" pitchFamily="34" charset="-122"/>
                <a:cs typeface="Arial" pitchFamily="34" charset="-120"/>
              </a:rPr>
              <a:t>掠食者-獵物</a:t>
            </a:r>
            <a:endParaRPr lang="en-US" sz="1600" dirty="0"/>
          </a:p>
        </p:txBody>
      </p:sp>
      <p:sp>
        <p:nvSpPr>
          <p:cNvPr id="7" name="Text 5"/>
          <p:cNvSpPr/>
          <p:nvPr/>
        </p:nvSpPr>
        <p:spPr>
          <a:xfrm>
            <a:off x="640080" y="1600200"/>
            <a:ext cx="3749040" cy="777240"/>
          </a:xfrm>
          <a:prstGeom prst="rect">
            <a:avLst/>
          </a:prstGeom>
          <a:noFill/>
          <a:ln/>
        </p:spPr>
        <p:txBody>
          <a:bodyPr wrap="square" rtlCol="0" anchor="ctr"/>
          <a:lstStyle/>
          <a:p>
            <a:pPr marL="0" indent="0">
              <a:buNone/>
            </a:pPr>
            <a:r>
              <a:rPr lang="en-US" sz="1300" dirty="0">
                <a:solidFill>
                  <a:srgbClr val="3D4A5C"/>
                </a:solidFill>
                <a:latin typeface="Arial" pitchFamily="34" charset="0"/>
                <a:ea typeface="Arial" pitchFamily="34" charset="-122"/>
                <a:cs typeface="Arial" pitchFamily="34" charset="-120"/>
              </a:rPr>
              <a:t>雙獵人圍困獵物。固定軌跡與隨機軌跡；報酬 +50（包圍距離 ≤1）、−10（碰撞／越界）。</a:t>
            </a:r>
            <a:endParaRPr lang="en-US" sz="1300" dirty="0"/>
          </a:p>
        </p:txBody>
      </p:sp>
      <p:sp>
        <p:nvSpPr>
          <p:cNvPr id="8" name="Shape 6"/>
          <p:cNvSpPr/>
          <p:nvPr/>
        </p:nvSpPr>
        <p:spPr>
          <a:xfrm>
            <a:off x="4754880" y="1005840"/>
            <a:ext cx="4114800" cy="1554480"/>
          </a:xfrm>
          <a:prstGeom prst="roundRect">
            <a:avLst>
              <a:gd name="adj" fmla="val 5882"/>
            </a:avLst>
          </a:prstGeom>
          <a:solidFill>
            <a:srgbClr val="EDE8DC"/>
          </a:solidFill>
          <a:ln/>
        </p:spPr>
      </p:sp>
      <p:sp>
        <p:nvSpPr>
          <p:cNvPr id="9" name="Text 7"/>
          <p:cNvSpPr/>
          <p:nvPr/>
        </p:nvSpPr>
        <p:spPr>
          <a:xfrm>
            <a:off x="4937760" y="1188720"/>
            <a:ext cx="3749040" cy="320040"/>
          </a:xfrm>
          <a:prstGeom prst="rect">
            <a:avLst/>
          </a:prstGeom>
          <a:noFill/>
          <a:ln/>
        </p:spPr>
        <p:txBody>
          <a:bodyPr wrap="square" rtlCol="0" anchor="ctr"/>
          <a:lstStyle/>
          <a:p>
            <a:pPr marL="0" indent="0">
              <a:buNone/>
            </a:pPr>
            <a:r>
              <a:rPr lang="en-US" sz="1600" b="1" dirty="0">
                <a:solidFill>
                  <a:srgbClr val="E85D04"/>
                </a:solidFill>
                <a:latin typeface="Arial" pitchFamily="34" charset="0"/>
                <a:ea typeface="Arial" pitchFamily="34" charset="-122"/>
                <a:cs typeface="Arial" pitchFamily="34" charset="-120"/>
              </a:rPr>
              <a:t>合作搬運</a:t>
            </a:r>
            <a:endParaRPr lang="en-US" sz="1600" dirty="0"/>
          </a:p>
        </p:txBody>
      </p:sp>
      <p:sp>
        <p:nvSpPr>
          <p:cNvPr id="10" name="Text 8"/>
          <p:cNvSpPr/>
          <p:nvPr/>
        </p:nvSpPr>
        <p:spPr>
          <a:xfrm>
            <a:off x="4937760" y="1600200"/>
            <a:ext cx="3749040" cy="777240"/>
          </a:xfrm>
          <a:prstGeom prst="rect">
            <a:avLst/>
          </a:prstGeom>
          <a:noFill/>
          <a:ln/>
        </p:spPr>
        <p:txBody>
          <a:bodyPr wrap="square" rtlCol="0" anchor="ctr"/>
          <a:lstStyle/>
          <a:p>
            <a:pPr marL="0" indent="0">
              <a:buNone/>
            </a:pPr>
            <a:r>
              <a:rPr lang="en-US" sz="1300" dirty="0">
                <a:solidFill>
                  <a:srgbClr val="3D4A5C"/>
                </a:solidFill>
                <a:latin typeface="Arial" pitchFamily="34" charset="0"/>
                <a:ea typeface="Arial" pitchFamily="34" charset="-122"/>
                <a:cs typeface="Arial" pitchFamily="34" charset="-120"/>
              </a:rPr>
              <a:t>7×7 方格環境，雙機搬運物體至目標並避障。報酬 +50（送達）、−10（碰撞／越界）。</a:t>
            </a:r>
            <a:endParaRPr lang="en-US" sz="1300" dirty="0"/>
          </a:p>
        </p:txBody>
      </p:sp>
      <p:sp>
        <p:nvSpPr>
          <p:cNvPr id="11" name="Shape 9"/>
          <p:cNvSpPr/>
          <p:nvPr/>
        </p:nvSpPr>
        <p:spPr>
          <a:xfrm>
            <a:off x="457200" y="2743200"/>
            <a:ext cx="4114800" cy="1554480"/>
          </a:xfrm>
          <a:prstGeom prst="roundRect">
            <a:avLst>
              <a:gd name="adj" fmla="val 5882"/>
            </a:avLst>
          </a:prstGeom>
          <a:solidFill>
            <a:srgbClr val="EDE8DC"/>
          </a:solidFill>
          <a:ln/>
        </p:spPr>
      </p:sp>
      <p:sp>
        <p:nvSpPr>
          <p:cNvPr id="12" name="Text 10"/>
          <p:cNvSpPr/>
          <p:nvPr/>
        </p:nvSpPr>
        <p:spPr>
          <a:xfrm>
            <a:off x="640080" y="2926080"/>
            <a:ext cx="3749040" cy="320040"/>
          </a:xfrm>
          <a:prstGeom prst="rect">
            <a:avLst/>
          </a:prstGeom>
          <a:noFill/>
          <a:ln/>
        </p:spPr>
        <p:txBody>
          <a:bodyPr wrap="square" rtlCol="0" anchor="ctr"/>
          <a:lstStyle/>
          <a:p>
            <a:pPr marL="0" indent="0">
              <a:buNone/>
            </a:pPr>
            <a:r>
              <a:rPr lang="en-US" sz="1600" b="1" dirty="0">
                <a:solidFill>
                  <a:srgbClr val="E85D04"/>
                </a:solidFill>
                <a:latin typeface="Arial" pitchFamily="34" charset="0"/>
                <a:ea typeface="Arial" pitchFamily="34" charset="-122"/>
                <a:cs typeface="Arial" pitchFamily="34" charset="-120"/>
              </a:rPr>
              <a:t>足球機器人</a:t>
            </a:r>
            <a:endParaRPr lang="en-US" sz="1600" dirty="0"/>
          </a:p>
        </p:txBody>
      </p:sp>
      <p:sp>
        <p:nvSpPr>
          <p:cNvPr id="13" name="Text 11"/>
          <p:cNvSpPr/>
          <p:nvPr/>
        </p:nvSpPr>
        <p:spPr>
          <a:xfrm>
            <a:off x="640080" y="3337560"/>
            <a:ext cx="3749040" cy="777240"/>
          </a:xfrm>
          <a:prstGeom prst="rect">
            <a:avLst/>
          </a:prstGeom>
          <a:noFill/>
          <a:ln/>
        </p:spPr>
        <p:txBody>
          <a:bodyPr wrap="square" rtlCol="0" anchor="ctr"/>
          <a:lstStyle/>
          <a:p>
            <a:pPr marL="0" indent="0">
              <a:buNone/>
            </a:pPr>
            <a:r>
              <a:rPr lang="en-US" sz="1300" dirty="0">
                <a:solidFill>
                  <a:srgbClr val="3D4A5C"/>
                </a:solidFill>
                <a:latin typeface="Arial" pitchFamily="34" charset="0"/>
                <a:ea typeface="Arial" pitchFamily="34" charset="-122"/>
                <a:cs typeface="Arial" pitchFamily="34" charset="-120"/>
              </a:rPr>
              <a:t>階層式子技能（進攻、防守、移動避障、踢球）融合，動態調用權重網路。</a:t>
            </a:r>
            <a:endParaRPr lang="en-US" sz="1300" dirty="0"/>
          </a:p>
        </p:txBody>
      </p:sp>
      <p:sp>
        <p:nvSpPr>
          <p:cNvPr id="14" name="Shape 12"/>
          <p:cNvSpPr/>
          <p:nvPr/>
        </p:nvSpPr>
        <p:spPr>
          <a:xfrm>
            <a:off x="4754880" y="2743200"/>
            <a:ext cx="4114800" cy="1554480"/>
          </a:xfrm>
          <a:prstGeom prst="roundRect">
            <a:avLst>
              <a:gd name="adj" fmla="val 5882"/>
            </a:avLst>
          </a:prstGeom>
          <a:solidFill>
            <a:srgbClr val="EDE8DC"/>
          </a:solidFill>
          <a:ln/>
        </p:spPr>
      </p:sp>
      <p:sp>
        <p:nvSpPr>
          <p:cNvPr id="15" name="Text 13"/>
          <p:cNvSpPr/>
          <p:nvPr/>
        </p:nvSpPr>
        <p:spPr>
          <a:xfrm>
            <a:off x="4937760" y="2926080"/>
            <a:ext cx="3749040" cy="320040"/>
          </a:xfrm>
          <a:prstGeom prst="rect">
            <a:avLst/>
          </a:prstGeom>
          <a:noFill/>
          <a:ln/>
        </p:spPr>
        <p:txBody>
          <a:bodyPr wrap="square" rtlCol="0" anchor="ctr"/>
          <a:lstStyle/>
          <a:p>
            <a:pPr marL="0" indent="0">
              <a:buNone/>
            </a:pPr>
            <a:r>
              <a:rPr lang="en-US" sz="1600" b="1" dirty="0">
                <a:solidFill>
                  <a:srgbClr val="E85D04"/>
                </a:solidFill>
                <a:latin typeface="Arial" pitchFamily="34" charset="0"/>
                <a:ea typeface="Arial" pitchFamily="34" charset="-122"/>
                <a:cs typeface="Arial" pitchFamily="34" charset="-120"/>
              </a:rPr>
              <a:t>星海爭霸</a:t>
            </a:r>
            <a:endParaRPr lang="en-US" sz="1600" dirty="0"/>
          </a:p>
        </p:txBody>
      </p:sp>
      <p:sp>
        <p:nvSpPr>
          <p:cNvPr id="16" name="Text 14"/>
          <p:cNvSpPr/>
          <p:nvPr/>
        </p:nvSpPr>
        <p:spPr>
          <a:xfrm>
            <a:off x="4937760" y="3337560"/>
            <a:ext cx="3749040" cy="777240"/>
          </a:xfrm>
          <a:prstGeom prst="rect">
            <a:avLst/>
          </a:prstGeom>
          <a:noFill/>
          <a:ln/>
        </p:spPr>
        <p:txBody>
          <a:bodyPr wrap="square" rtlCol="0" anchor="ctr"/>
          <a:lstStyle/>
          <a:p>
            <a:pPr marL="0" indent="0">
              <a:buNone/>
            </a:pPr>
            <a:r>
              <a:rPr lang="en-US" sz="1300" dirty="0">
                <a:solidFill>
                  <a:srgbClr val="3D4A5C"/>
                </a:solidFill>
                <a:latin typeface="Arial" pitchFamily="34" charset="0"/>
                <a:ea typeface="Arial" pitchFamily="34" charset="-122"/>
                <a:cs typeface="Arial" pitchFamily="34" charset="-120"/>
              </a:rPr>
              <a:t>5v6、8v9 劣勢兵力對局，成功學會單兵誘敵與其餘集中火力殲敵策略。</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a:effectLst/>
      </p:bgPr>
    </p:bg>
    <p:spTree>
      <p:nvGrpSpPr>
        <p:cNvPr id="1" name=""/>
        <p:cNvGrpSpPr/>
        <p:nvPr/>
      </p:nvGrpSpPr>
      <p:grpSpPr>
        <a:xfrm>
          <a:off x="0" y="0"/>
          <a:ext cx="0" cy="0"/>
          <a:chOff x="0" y="0"/>
          <a:chExt cx="0" cy="0"/>
        </a:xfrm>
      </p:grpSpPr>
      <p:sp>
        <p:nvSpPr>
          <p:cNvPr id="2" name="Shape 0"/>
          <p:cNvSpPr/>
          <p:nvPr/>
        </p:nvSpPr>
        <p:spPr>
          <a:xfrm>
            <a:off x="-127000" y="-22860"/>
            <a:ext cx="9144000" cy="640080"/>
          </a:xfrm>
          <a:prstGeom prst="rect">
            <a:avLst/>
          </a:prstGeom>
          <a:solidFill>
            <a:srgbClr val="1A2332"/>
          </a:solidFill>
          <a:ln/>
        </p:spPr>
      </p:sp>
      <p:sp>
        <p:nvSpPr>
          <p:cNvPr id="3" name="Text 1"/>
          <p:cNvSpPr/>
          <p:nvPr/>
        </p:nvSpPr>
        <p:spPr>
          <a:xfrm>
            <a:off x="457200" y="164592"/>
            <a:ext cx="6858000" cy="365760"/>
          </a:xfrm>
          <a:prstGeom prst="rect">
            <a:avLst/>
          </a:prstGeom>
          <a:noFill/>
          <a:ln/>
        </p:spPr>
        <p:txBody>
          <a:bodyPr wrap="square" rtlCol="0" anchor="ctr"/>
          <a:lstStyle/>
          <a:p>
            <a:pPr marL="0" indent="0">
              <a:buNone/>
            </a:pPr>
            <a:r>
              <a:rPr lang="en-US" sz="1800" b="1" dirty="0" err="1">
                <a:solidFill>
                  <a:srgbClr val="FFFFFF"/>
                </a:solidFill>
                <a:latin typeface="Arial" pitchFamily="34" charset="0"/>
                <a:ea typeface="Arial" pitchFamily="34" charset="-122"/>
                <a:cs typeface="Arial" pitchFamily="34" charset="-120"/>
              </a:rPr>
              <a:t>心得</a:t>
            </a:r>
            <a:endParaRPr lang="en-US" sz="1800" dirty="0"/>
          </a:p>
        </p:txBody>
      </p:sp>
      <p:sp>
        <p:nvSpPr>
          <p:cNvPr id="4" name="Text 2"/>
          <p:cNvSpPr/>
          <p:nvPr/>
        </p:nvSpPr>
        <p:spPr>
          <a:xfrm>
            <a:off x="7772400" y="164592"/>
            <a:ext cx="914400" cy="365760"/>
          </a:xfrm>
          <a:prstGeom prst="rect">
            <a:avLst/>
          </a:prstGeom>
          <a:noFill/>
          <a:ln/>
        </p:spPr>
        <p:txBody>
          <a:bodyPr wrap="square" rtlCol="0" anchor="ctr"/>
          <a:lstStyle/>
          <a:p>
            <a:pPr marL="0" indent="0" algn="r">
              <a:buNone/>
            </a:pPr>
            <a:r>
              <a:rPr lang="en-US" sz="1400" dirty="0">
                <a:solidFill>
                  <a:srgbClr val="6B7A8D"/>
                </a:solidFill>
                <a:latin typeface="Arial" pitchFamily="34" charset="0"/>
                <a:ea typeface="Arial" pitchFamily="34" charset="-122"/>
                <a:cs typeface="Arial" pitchFamily="34" charset="-120"/>
              </a:rPr>
              <a:t>10</a:t>
            </a:r>
            <a:endParaRPr lang="en-US" sz="1400" dirty="0"/>
          </a:p>
        </p:txBody>
      </p:sp>
      <p:sp>
        <p:nvSpPr>
          <p:cNvPr id="10" name="Text 8"/>
          <p:cNvSpPr/>
          <p:nvPr/>
        </p:nvSpPr>
        <p:spPr>
          <a:xfrm>
            <a:off x="457200" y="1920240"/>
            <a:ext cx="320040" cy="320040"/>
          </a:xfrm>
          <a:prstGeom prst="rect">
            <a:avLst/>
          </a:prstGeom>
          <a:noFill/>
          <a:ln/>
        </p:spPr>
        <p:txBody>
          <a:bodyPr wrap="square" rtlCol="0" anchor="ctr"/>
          <a:lstStyle/>
          <a:p>
            <a:pPr marL="0" indent="0" algn="ctr">
              <a:buNone/>
            </a:pPr>
            <a:endParaRPr lang="en-US" sz="1200" dirty="0"/>
          </a:p>
        </p:txBody>
      </p:sp>
      <p:sp>
        <p:nvSpPr>
          <p:cNvPr id="21" name="文字方塊 20">
            <a:extLst>
              <a:ext uri="{FF2B5EF4-FFF2-40B4-BE49-F238E27FC236}">
                <a16:creationId xmlns:a16="http://schemas.microsoft.com/office/drawing/2014/main" id="{94A3106C-FBD5-43B6-96E1-A3E824DCD0E1}"/>
              </a:ext>
            </a:extLst>
          </p:cNvPr>
          <p:cNvSpPr txBox="1"/>
          <p:nvPr/>
        </p:nvSpPr>
        <p:spPr>
          <a:xfrm>
            <a:off x="457200" y="925285"/>
            <a:ext cx="8229600" cy="2292935"/>
          </a:xfrm>
          <a:prstGeom prst="rect">
            <a:avLst/>
          </a:prstGeom>
          <a:noFill/>
        </p:spPr>
        <p:txBody>
          <a:bodyPr wrap="square" rtlCol="0">
            <a:spAutoFit/>
          </a:bodyPr>
          <a:lstStyle/>
          <a:p>
            <a:r>
              <a:rPr lang="zh-TW" altLang="en-US" sz="1300" dirty="0">
                <a:solidFill>
                  <a:srgbClr val="3D4A5C"/>
                </a:solidFill>
                <a:latin typeface="Arial" pitchFamily="34" charset="0"/>
                <a:cs typeface="Arial" pitchFamily="34" charset="-120"/>
              </a:rPr>
              <a:t>這場演講清晰地串連了強化學習的基礎理論與多機器人實務挑戰，讓人印象深刻的是「從個體最優到群體穩定」的思維轉變。傳統 </a:t>
            </a:r>
            <a:r>
              <a:rPr lang="en-US" altLang="zh-TW" sz="1300" dirty="0">
                <a:solidFill>
                  <a:srgbClr val="3D4A5C"/>
                </a:solidFill>
                <a:latin typeface="Arial" pitchFamily="34" charset="0"/>
                <a:cs typeface="Arial" pitchFamily="34" charset="-120"/>
              </a:rPr>
              <a:t>Q-Learning </a:t>
            </a:r>
            <a:r>
              <a:rPr lang="zh-TW" altLang="en-US" sz="1300" dirty="0">
                <a:solidFill>
                  <a:srgbClr val="3D4A5C"/>
                </a:solidFill>
                <a:latin typeface="Arial" pitchFamily="34" charset="0"/>
                <a:cs typeface="Arial" pitchFamily="34" charset="-120"/>
              </a:rPr>
              <a:t>追求單一代理人最快到達目標，但在多機環境中往往導致合作停滯；</a:t>
            </a:r>
            <a:r>
              <a:rPr lang="en-US" altLang="zh-TW" sz="1300" dirty="0">
                <a:solidFill>
                  <a:srgbClr val="3D4A5C"/>
                </a:solidFill>
                <a:latin typeface="Arial" pitchFamily="34" charset="0"/>
                <a:cs typeface="Arial" pitchFamily="34" charset="-120"/>
              </a:rPr>
              <a:t>DCM </a:t>
            </a:r>
            <a:r>
              <a:rPr lang="zh-TW" altLang="en-US" sz="1300" dirty="0">
                <a:solidFill>
                  <a:srgbClr val="3D4A5C"/>
                </a:solidFill>
                <a:latin typeface="Arial" pitchFamily="34" charset="0"/>
                <a:cs typeface="Arial" pitchFamily="34" charset="-120"/>
              </a:rPr>
              <a:t>透過統計失敗經驗動態調整合作傾向，提供了一種不依賴即時通訊的優雅解法。</a:t>
            </a:r>
            <a:endParaRPr lang="en-US" altLang="zh-TW" sz="1300" dirty="0">
              <a:solidFill>
                <a:srgbClr val="3D4A5C"/>
              </a:solidFill>
              <a:latin typeface="Arial" pitchFamily="34" charset="0"/>
              <a:cs typeface="Arial" pitchFamily="34" charset="-120"/>
            </a:endParaRPr>
          </a:p>
          <a:p>
            <a:endParaRPr lang="zh-TW" altLang="en-US" sz="1300" dirty="0">
              <a:solidFill>
                <a:srgbClr val="3D4A5C"/>
              </a:solidFill>
              <a:latin typeface="Arial" pitchFamily="34" charset="0"/>
              <a:cs typeface="Arial" pitchFamily="34" charset="-120"/>
            </a:endParaRPr>
          </a:p>
          <a:p>
            <a:r>
              <a:rPr lang="zh-TW" altLang="en-US" sz="1300" dirty="0">
                <a:solidFill>
                  <a:srgbClr val="3D4A5C"/>
                </a:solidFill>
                <a:latin typeface="Arial" pitchFamily="34" charset="0"/>
                <a:cs typeface="Arial" pitchFamily="34" charset="-120"/>
              </a:rPr>
              <a:t>階層式架構更是亮點。將複雜任務拆解為可重用子技能，再以融合網路動態組合，不僅降低維度與收斂難度，也呼應了工程實務中「模組化設計」的精神。這讓我聯想到現實世界的多機器人應用（如倉庫搬運、搜救、競技機器人），未來若能進一步結合部分通訊與階層式控制，應能在更複雜的非平穩環境中取得更好表現。</a:t>
            </a:r>
            <a:endParaRPr lang="en-US" altLang="zh-TW" sz="1300" dirty="0">
              <a:solidFill>
                <a:srgbClr val="3D4A5C"/>
              </a:solidFill>
              <a:latin typeface="Arial" pitchFamily="34" charset="0"/>
              <a:cs typeface="Arial" pitchFamily="34" charset="-120"/>
            </a:endParaRPr>
          </a:p>
          <a:p>
            <a:endParaRPr lang="zh-TW" altLang="en-US" sz="1300" dirty="0">
              <a:solidFill>
                <a:srgbClr val="3D4A5C"/>
              </a:solidFill>
              <a:latin typeface="Arial" pitchFamily="34" charset="0"/>
              <a:cs typeface="Arial" pitchFamily="34" charset="-120"/>
            </a:endParaRPr>
          </a:p>
          <a:p>
            <a:r>
              <a:rPr lang="zh-TW" altLang="en-US" sz="1300" dirty="0">
                <a:solidFill>
                  <a:srgbClr val="3D4A5C"/>
                </a:solidFill>
                <a:latin typeface="Arial" pitchFamily="34" charset="0"/>
                <a:cs typeface="Arial" pitchFamily="34" charset="-120"/>
              </a:rPr>
              <a:t>講者強調「學會獨立解決問題」比特定技術更重要，這對研究生尤其受用。強化學習領域曾長期冷門，直到 </a:t>
            </a:r>
            <a:r>
              <a:rPr lang="en-US" altLang="zh-TW" sz="1300" dirty="0">
                <a:solidFill>
                  <a:srgbClr val="3D4A5C"/>
                </a:solidFill>
                <a:latin typeface="Arial" pitchFamily="34" charset="0"/>
                <a:cs typeface="Arial" pitchFamily="34" charset="-120"/>
              </a:rPr>
              <a:t>AlphaGo </a:t>
            </a:r>
            <a:r>
              <a:rPr lang="zh-TW" altLang="en-US" sz="1300" dirty="0">
                <a:solidFill>
                  <a:srgbClr val="3D4A5C"/>
                </a:solidFill>
                <a:latin typeface="Arial" pitchFamily="34" charset="0"/>
                <a:cs typeface="Arial" pitchFamily="34" charset="-120"/>
              </a:rPr>
              <a:t>等突破才爆發，提醒我們應專注本質架構的積累，而非追逐短期熱點。整體而言，演講內容紮實、實驗驗證完整，對有志從事多代理人系統與深度強化學習的研究者具有高度啟發價值。</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332"/>
          </a:solidFill>
          <a:ln/>
        </p:spPr>
      </p:sp>
      <p:sp>
        <p:nvSpPr>
          <p:cNvPr id="3" name="Text 1"/>
          <p:cNvSpPr/>
          <p:nvPr/>
        </p:nvSpPr>
        <p:spPr>
          <a:xfrm>
            <a:off x="457200" y="164592"/>
            <a:ext cx="6858000" cy="36576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關鍵字與參考文獻</a:t>
            </a:r>
            <a:endParaRPr lang="en-US" sz="1800" dirty="0"/>
          </a:p>
        </p:txBody>
      </p:sp>
      <p:sp>
        <p:nvSpPr>
          <p:cNvPr id="4" name="Text 2"/>
          <p:cNvSpPr/>
          <p:nvPr/>
        </p:nvSpPr>
        <p:spPr>
          <a:xfrm>
            <a:off x="7772400" y="164592"/>
            <a:ext cx="914400" cy="365760"/>
          </a:xfrm>
          <a:prstGeom prst="rect">
            <a:avLst/>
          </a:prstGeom>
          <a:noFill/>
          <a:ln/>
        </p:spPr>
        <p:txBody>
          <a:bodyPr wrap="square" rtlCol="0" anchor="ctr"/>
          <a:lstStyle/>
          <a:p>
            <a:pPr marL="0" indent="0" algn="r">
              <a:buNone/>
            </a:pPr>
            <a:r>
              <a:rPr lang="en-US" sz="1400" dirty="0">
                <a:solidFill>
                  <a:srgbClr val="6B7A8D"/>
                </a:solidFill>
                <a:latin typeface="Arial" pitchFamily="34" charset="0"/>
                <a:ea typeface="Arial" pitchFamily="34" charset="-122"/>
                <a:cs typeface="Arial" pitchFamily="34" charset="-120"/>
              </a:rPr>
              <a:t>11</a:t>
            </a:r>
            <a:endParaRPr lang="en-US" sz="1400" dirty="0"/>
          </a:p>
        </p:txBody>
      </p:sp>
      <p:sp>
        <p:nvSpPr>
          <p:cNvPr id="5" name="Text 3"/>
          <p:cNvSpPr/>
          <p:nvPr/>
        </p:nvSpPr>
        <p:spPr>
          <a:xfrm>
            <a:off x="457200" y="914400"/>
            <a:ext cx="8229600" cy="320040"/>
          </a:xfrm>
          <a:prstGeom prst="rect">
            <a:avLst/>
          </a:prstGeom>
          <a:noFill/>
          <a:ln/>
        </p:spPr>
        <p:txBody>
          <a:bodyPr wrap="square" rtlCol="0" anchor="ctr"/>
          <a:lstStyle/>
          <a:p>
            <a:pPr marL="0" indent="0">
              <a:buNone/>
            </a:pPr>
            <a:r>
              <a:rPr lang="en-US" sz="1600" b="1" dirty="0">
                <a:solidFill>
                  <a:srgbClr val="1A2332"/>
                </a:solidFill>
                <a:latin typeface="Arial" pitchFamily="34" charset="0"/>
                <a:ea typeface="Arial" pitchFamily="34" charset="-122"/>
                <a:cs typeface="Arial" pitchFamily="34" charset="-120"/>
              </a:rPr>
              <a:t>關鍵字</a:t>
            </a:r>
            <a:endParaRPr lang="en-US" sz="1600" dirty="0"/>
          </a:p>
        </p:txBody>
      </p:sp>
      <p:sp>
        <p:nvSpPr>
          <p:cNvPr id="6" name="Shape 4"/>
          <p:cNvSpPr/>
          <p:nvPr/>
        </p:nvSpPr>
        <p:spPr>
          <a:xfrm>
            <a:off x="457200" y="1371600"/>
            <a:ext cx="2011680" cy="384048"/>
          </a:xfrm>
          <a:prstGeom prst="roundRect">
            <a:avLst>
              <a:gd name="adj" fmla="val 19048"/>
            </a:avLst>
          </a:prstGeom>
          <a:solidFill>
            <a:srgbClr val="EDE8DC"/>
          </a:solidFill>
          <a:ln w="12700">
            <a:solidFill>
              <a:srgbClr val="D4CBB8"/>
            </a:solidFill>
            <a:prstDash val="solid"/>
          </a:ln>
        </p:spPr>
      </p:sp>
      <p:sp>
        <p:nvSpPr>
          <p:cNvPr id="7" name="Text 5"/>
          <p:cNvSpPr/>
          <p:nvPr/>
        </p:nvSpPr>
        <p:spPr>
          <a:xfrm>
            <a:off x="457200" y="1371600"/>
            <a:ext cx="2011680" cy="384048"/>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深度強化學習</a:t>
            </a:r>
            <a:endParaRPr lang="en-US" sz="1200" dirty="0"/>
          </a:p>
        </p:txBody>
      </p:sp>
      <p:sp>
        <p:nvSpPr>
          <p:cNvPr id="8" name="Shape 6"/>
          <p:cNvSpPr/>
          <p:nvPr/>
        </p:nvSpPr>
        <p:spPr>
          <a:xfrm>
            <a:off x="2606040" y="1371600"/>
            <a:ext cx="2011680" cy="384048"/>
          </a:xfrm>
          <a:prstGeom prst="roundRect">
            <a:avLst>
              <a:gd name="adj" fmla="val 19048"/>
            </a:avLst>
          </a:prstGeom>
          <a:solidFill>
            <a:srgbClr val="EDE8DC"/>
          </a:solidFill>
          <a:ln w="12700">
            <a:solidFill>
              <a:srgbClr val="D4CBB8"/>
            </a:solidFill>
            <a:prstDash val="solid"/>
          </a:ln>
        </p:spPr>
      </p:sp>
      <p:sp>
        <p:nvSpPr>
          <p:cNvPr id="9" name="Text 7"/>
          <p:cNvSpPr/>
          <p:nvPr/>
        </p:nvSpPr>
        <p:spPr>
          <a:xfrm>
            <a:off x="2606040" y="1371600"/>
            <a:ext cx="2011680" cy="384048"/>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多機器人系統</a:t>
            </a:r>
            <a:endParaRPr lang="en-US" sz="1200" dirty="0"/>
          </a:p>
        </p:txBody>
      </p:sp>
      <p:sp>
        <p:nvSpPr>
          <p:cNvPr id="10" name="Shape 8"/>
          <p:cNvSpPr/>
          <p:nvPr/>
        </p:nvSpPr>
        <p:spPr>
          <a:xfrm>
            <a:off x="4754880" y="1371600"/>
            <a:ext cx="2011680" cy="384048"/>
          </a:xfrm>
          <a:prstGeom prst="roundRect">
            <a:avLst>
              <a:gd name="adj" fmla="val 19048"/>
            </a:avLst>
          </a:prstGeom>
          <a:solidFill>
            <a:srgbClr val="EDE8DC"/>
          </a:solidFill>
          <a:ln w="12700">
            <a:solidFill>
              <a:srgbClr val="D4CBB8"/>
            </a:solidFill>
            <a:prstDash val="solid"/>
          </a:ln>
        </p:spPr>
      </p:sp>
      <p:sp>
        <p:nvSpPr>
          <p:cNvPr id="11" name="Text 9"/>
          <p:cNvSpPr/>
          <p:nvPr/>
        </p:nvSpPr>
        <p:spPr>
          <a:xfrm>
            <a:off x="4754880" y="1371600"/>
            <a:ext cx="2011680" cy="384048"/>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Q-Learning</a:t>
            </a:r>
            <a:endParaRPr lang="en-US" sz="1200" dirty="0"/>
          </a:p>
        </p:txBody>
      </p:sp>
      <p:sp>
        <p:nvSpPr>
          <p:cNvPr id="12" name="Shape 10"/>
          <p:cNvSpPr/>
          <p:nvPr/>
        </p:nvSpPr>
        <p:spPr>
          <a:xfrm>
            <a:off x="6903720" y="1371600"/>
            <a:ext cx="2011680" cy="384048"/>
          </a:xfrm>
          <a:prstGeom prst="roundRect">
            <a:avLst>
              <a:gd name="adj" fmla="val 19048"/>
            </a:avLst>
          </a:prstGeom>
          <a:solidFill>
            <a:srgbClr val="EDE8DC"/>
          </a:solidFill>
          <a:ln w="12700">
            <a:solidFill>
              <a:srgbClr val="D4CBB8"/>
            </a:solidFill>
            <a:prstDash val="solid"/>
          </a:ln>
        </p:spPr>
      </p:sp>
      <p:sp>
        <p:nvSpPr>
          <p:cNvPr id="13" name="Text 11"/>
          <p:cNvSpPr/>
          <p:nvPr/>
        </p:nvSpPr>
        <p:spPr>
          <a:xfrm>
            <a:off x="6903720" y="1371600"/>
            <a:ext cx="2011680" cy="384048"/>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DQN</a:t>
            </a:r>
            <a:endParaRPr lang="en-US" sz="1200" dirty="0"/>
          </a:p>
        </p:txBody>
      </p:sp>
      <p:sp>
        <p:nvSpPr>
          <p:cNvPr id="14" name="Shape 12"/>
          <p:cNvSpPr/>
          <p:nvPr/>
        </p:nvSpPr>
        <p:spPr>
          <a:xfrm>
            <a:off x="457200" y="1874520"/>
            <a:ext cx="2011680" cy="384048"/>
          </a:xfrm>
          <a:prstGeom prst="roundRect">
            <a:avLst>
              <a:gd name="adj" fmla="val 19048"/>
            </a:avLst>
          </a:prstGeom>
          <a:solidFill>
            <a:srgbClr val="EDE8DC"/>
          </a:solidFill>
          <a:ln w="12700">
            <a:solidFill>
              <a:srgbClr val="D4CBB8"/>
            </a:solidFill>
            <a:prstDash val="solid"/>
          </a:ln>
        </p:spPr>
      </p:sp>
      <p:sp>
        <p:nvSpPr>
          <p:cNvPr id="15" name="Text 13"/>
          <p:cNvSpPr/>
          <p:nvPr/>
        </p:nvSpPr>
        <p:spPr>
          <a:xfrm>
            <a:off x="457200" y="1874520"/>
            <a:ext cx="2011680" cy="384048"/>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深度合作模型 DCM</a:t>
            </a:r>
            <a:endParaRPr lang="en-US" sz="1200" dirty="0"/>
          </a:p>
        </p:txBody>
      </p:sp>
      <p:sp>
        <p:nvSpPr>
          <p:cNvPr id="16" name="Shape 14"/>
          <p:cNvSpPr/>
          <p:nvPr/>
        </p:nvSpPr>
        <p:spPr>
          <a:xfrm>
            <a:off x="2606040" y="1874520"/>
            <a:ext cx="2011680" cy="384048"/>
          </a:xfrm>
          <a:prstGeom prst="roundRect">
            <a:avLst>
              <a:gd name="adj" fmla="val 19048"/>
            </a:avLst>
          </a:prstGeom>
          <a:solidFill>
            <a:srgbClr val="EDE8DC"/>
          </a:solidFill>
          <a:ln w="12700">
            <a:solidFill>
              <a:srgbClr val="D4CBB8"/>
            </a:solidFill>
            <a:prstDash val="solid"/>
          </a:ln>
        </p:spPr>
      </p:sp>
      <p:sp>
        <p:nvSpPr>
          <p:cNvPr id="17" name="Text 15"/>
          <p:cNvSpPr/>
          <p:nvPr/>
        </p:nvSpPr>
        <p:spPr>
          <a:xfrm>
            <a:off x="2606040" y="1874520"/>
            <a:ext cx="2011680" cy="384048"/>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無通訊協作</a:t>
            </a:r>
            <a:endParaRPr lang="en-US" sz="1200" dirty="0"/>
          </a:p>
        </p:txBody>
      </p:sp>
      <p:sp>
        <p:nvSpPr>
          <p:cNvPr id="18" name="Shape 16"/>
          <p:cNvSpPr/>
          <p:nvPr/>
        </p:nvSpPr>
        <p:spPr>
          <a:xfrm>
            <a:off x="4754880" y="1874520"/>
            <a:ext cx="2011680" cy="384048"/>
          </a:xfrm>
          <a:prstGeom prst="roundRect">
            <a:avLst>
              <a:gd name="adj" fmla="val 19048"/>
            </a:avLst>
          </a:prstGeom>
          <a:solidFill>
            <a:srgbClr val="EDE8DC"/>
          </a:solidFill>
          <a:ln w="12700">
            <a:solidFill>
              <a:srgbClr val="D4CBB8"/>
            </a:solidFill>
            <a:prstDash val="solid"/>
          </a:ln>
        </p:spPr>
      </p:sp>
      <p:sp>
        <p:nvSpPr>
          <p:cNvPr id="19" name="Text 17"/>
          <p:cNvSpPr/>
          <p:nvPr/>
        </p:nvSpPr>
        <p:spPr>
          <a:xfrm>
            <a:off x="4754880" y="1874520"/>
            <a:ext cx="2011680" cy="384048"/>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非平穩環境</a:t>
            </a:r>
            <a:endParaRPr lang="en-US" sz="1200" dirty="0"/>
          </a:p>
        </p:txBody>
      </p:sp>
      <p:sp>
        <p:nvSpPr>
          <p:cNvPr id="20" name="Shape 18"/>
          <p:cNvSpPr/>
          <p:nvPr/>
        </p:nvSpPr>
        <p:spPr>
          <a:xfrm>
            <a:off x="6903720" y="1874520"/>
            <a:ext cx="2011680" cy="384048"/>
          </a:xfrm>
          <a:prstGeom prst="roundRect">
            <a:avLst>
              <a:gd name="adj" fmla="val 19048"/>
            </a:avLst>
          </a:prstGeom>
          <a:solidFill>
            <a:srgbClr val="EDE8DC"/>
          </a:solidFill>
          <a:ln w="12700">
            <a:solidFill>
              <a:srgbClr val="D4CBB8"/>
            </a:solidFill>
            <a:prstDash val="solid"/>
          </a:ln>
        </p:spPr>
      </p:sp>
      <p:sp>
        <p:nvSpPr>
          <p:cNvPr id="21" name="Text 19"/>
          <p:cNvSpPr/>
          <p:nvPr/>
        </p:nvSpPr>
        <p:spPr>
          <a:xfrm>
            <a:off x="6903720" y="1874520"/>
            <a:ext cx="2011680" cy="384048"/>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合作停滯</a:t>
            </a:r>
            <a:endParaRPr lang="en-US" sz="1200" dirty="0"/>
          </a:p>
        </p:txBody>
      </p:sp>
      <p:sp>
        <p:nvSpPr>
          <p:cNvPr id="22" name="Shape 20"/>
          <p:cNvSpPr/>
          <p:nvPr/>
        </p:nvSpPr>
        <p:spPr>
          <a:xfrm>
            <a:off x="457200" y="2377440"/>
            <a:ext cx="2011680" cy="384048"/>
          </a:xfrm>
          <a:prstGeom prst="roundRect">
            <a:avLst>
              <a:gd name="adj" fmla="val 19048"/>
            </a:avLst>
          </a:prstGeom>
          <a:solidFill>
            <a:srgbClr val="EDE8DC"/>
          </a:solidFill>
          <a:ln w="12700">
            <a:solidFill>
              <a:srgbClr val="D4CBB8"/>
            </a:solidFill>
            <a:prstDash val="solid"/>
          </a:ln>
        </p:spPr>
      </p:sp>
      <p:sp>
        <p:nvSpPr>
          <p:cNvPr id="23" name="Text 21"/>
          <p:cNvSpPr/>
          <p:nvPr/>
        </p:nvSpPr>
        <p:spPr>
          <a:xfrm>
            <a:off x="457200" y="2377440"/>
            <a:ext cx="2011680" cy="384048"/>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階層式強化學習</a:t>
            </a:r>
            <a:endParaRPr lang="en-US" sz="1200" dirty="0"/>
          </a:p>
        </p:txBody>
      </p:sp>
      <p:sp>
        <p:nvSpPr>
          <p:cNvPr id="24" name="Shape 22"/>
          <p:cNvSpPr/>
          <p:nvPr/>
        </p:nvSpPr>
        <p:spPr>
          <a:xfrm>
            <a:off x="2606040" y="2377440"/>
            <a:ext cx="2011680" cy="384048"/>
          </a:xfrm>
          <a:prstGeom prst="roundRect">
            <a:avLst>
              <a:gd name="adj" fmla="val 19048"/>
            </a:avLst>
          </a:prstGeom>
          <a:solidFill>
            <a:srgbClr val="EDE8DC"/>
          </a:solidFill>
          <a:ln w="12700">
            <a:solidFill>
              <a:srgbClr val="D4CBB8"/>
            </a:solidFill>
            <a:prstDash val="solid"/>
          </a:ln>
        </p:spPr>
      </p:sp>
      <p:sp>
        <p:nvSpPr>
          <p:cNvPr id="25" name="Text 23"/>
          <p:cNvSpPr/>
          <p:nvPr/>
        </p:nvSpPr>
        <p:spPr>
          <a:xfrm>
            <a:off x="2606040" y="2377440"/>
            <a:ext cx="2011680" cy="384048"/>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行為融合</a:t>
            </a:r>
            <a:endParaRPr lang="en-US" sz="1200" dirty="0"/>
          </a:p>
        </p:txBody>
      </p:sp>
      <p:sp>
        <p:nvSpPr>
          <p:cNvPr id="26" name="Shape 24"/>
          <p:cNvSpPr/>
          <p:nvPr/>
        </p:nvSpPr>
        <p:spPr>
          <a:xfrm>
            <a:off x="4754880" y="2377440"/>
            <a:ext cx="2011680" cy="384048"/>
          </a:xfrm>
          <a:prstGeom prst="roundRect">
            <a:avLst>
              <a:gd name="adj" fmla="val 19048"/>
            </a:avLst>
          </a:prstGeom>
          <a:solidFill>
            <a:srgbClr val="EDE8DC"/>
          </a:solidFill>
          <a:ln w="12700">
            <a:solidFill>
              <a:srgbClr val="D4CBB8"/>
            </a:solidFill>
            <a:prstDash val="solid"/>
          </a:ln>
        </p:spPr>
      </p:sp>
      <p:sp>
        <p:nvSpPr>
          <p:cNvPr id="27" name="Text 25"/>
          <p:cNvSpPr/>
          <p:nvPr/>
        </p:nvSpPr>
        <p:spPr>
          <a:xfrm>
            <a:off x="4754880" y="2377440"/>
            <a:ext cx="2011680" cy="384048"/>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群體決策</a:t>
            </a:r>
            <a:endParaRPr lang="en-US" sz="1200" dirty="0"/>
          </a:p>
        </p:txBody>
      </p:sp>
      <p:sp>
        <p:nvSpPr>
          <p:cNvPr id="28" name="Text 26"/>
          <p:cNvSpPr/>
          <p:nvPr/>
        </p:nvSpPr>
        <p:spPr>
          <a:xfrm>
            <a:off x="457200" y="3108960"/>
            <a:ext cx="8229600" cy="274320"/>
          </a:xfrm>
          <a:prstGeom prst="rect">
            <a:avLst/>
          </a:prstGeom>
          <a:noFill/>
          <a:ln/>
        </p:spPr>
        <p:txBody>
          <a:bodyPr wrap="square" rtlCol="0" anchor="ctr"/>
          <a:lstStyle/>
          <a:p>
            <a:pPr marL="0" indent="0">
              <a:buNone/>
            </a:pPr>
            <a:r>
              <a:rPr lang="en-US" sz="1500" b="1" dirty="0">
                <a:solidFill>
                  <a:srgbClr val="1A2332"/>
                </a:solidFill>
                <a:latin typeface="Arial" pitchFamily="34" charset="0"/>
                <a:ea typeface="Arial" pitchFamily="34" charset="-122"/>
                <a:cs typeface="Arial" pitchFamily="34" charset="-120"/>
              </a:rPr>
              <a:t>主要參考</a:t>
            </a:r>
            <a:endParaRPr lang="en-US" sz="1500" dirty="0"/>
          </a:p>
        </p:txBody>
      </p:sp>
      <p:sp>
        <p:nvSpPr>
          <p:cNvPr id="29" name="Text 27"/>
          <p:cNvSpPr/>
          <p:nvPr/>
        </p:nvSpPr>
        <p:spPr>
          <a:xfrm>
            <a:off x="457200" y="3474720"/>
            <a:ext cx="8229600" cy="1188720"/>
          </a:xfrm>
          <a:prstGeom prst="rect">
            <a:avLst/>
          </a:prstGeom>
          <a:noFill/>
          <a:ln/>
        </p:spPr>
        <p:txBody>
          <a:bodyPr wrap="square" rtlCol="0" anchor="ctr"/>
          <a:lstStyle/>
          <a:p>
            <a:pPr marL="0" indent="0">
              <a:lnSpc>
                <a:spcPts val="2200"/>
              </a:lnSpc>
              <a:buNone/>
            </a:pPr>
            <a:r>
              <a:rPr lang="en-US" sz="1300" dirty="0">
                <a:solidFill>
                  <a:srgbClr val="3D4A5C"/>
                </a:solidFill>
                <a:latin typeface="Arial" pitchFamily="34" charset="0"/>
                <a:ea typeface="Arial" pitchFamily="34" charset="-122"/>
                <a:cs typeface="Arial" pitchFamily="34" charset="-120"/>
              </a:rPr>
              <a:t>1. 蔣惟丞，〈深度強化學習於多機器人系統學習與控制〉，國立中正大學電機工程學系學術演講，2026年10月20日。</a:t>
            </a:r>
            <a:endParaRPr lang="en-US" sz="1300" dirty="0"/>
          </a:p>
          <a:p>
            <a:pPr marL="0" indent="0">
              <a:lnSpc>
                <a:spcPts val="2200"/>
              </a:lnSpc>
              <a:buNone/>
            </a:pPr>
            <a:r>
              <a:rPr lang="en-US" sz="1300" dirty="0">
                <a:solidFill>
                  <a:srgbClr val="3D4A5C"/>
                </a:solidFill>
                <a:latin typeface="Arial" pitchFamily="34" charset="0"/>
                <a:ea typeface="Arial" pitchFamily="34" charset="-122"/>
                <a:cs typeface="Arial" pitchFamily="34" charset="-120"/>
              </a:rPr>
              <a:t>2. Mnih et al. (2015). Human-level control through deep reinforcement learning. Nature.</a:t>
            </a:r>
            <a:endParaRPr lang="en-US" sz="1300" dirty="0"/>
          </a:p>
          <a:p>
            <a:pPr marL="0" indent="0">
              <a:lnSpc>
                <a:spcPts val="2200"/>
              </a:lnSpc>
              <a:buNone/>
            </a:pPr>
            <a:r>
              <a:rPr lang="en-US" sz="1300" dirty="0">
                <a:solidFill>
                  <a:srgbClr val="3D4A5C"/>
                </a:solidFill>
                <a:latin typeface="Arial" pitchFamily="34" charset="0"/>
                <a:ea typeface="Arial" pitchFamily="34" charset="-122"/>
                <a:cs typeface="Arial" pitchFamily="34" charset="-120"/>
              </a:rPr>
              <a:t>3. Sutton &amp; Barto (2018). Reinforcement Learning: An Introduction (2nd ed.). MIT Press.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887</Words>
  <Application>Microsoft Office PowerPoint</Application>
  <PresentationFormat>如螢幕大小 (16:9)</PresentationFormat>
  <Paragraphs>138</Paragraphs>
  <Slides>11</Slides>
  <Notes>11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新細明體</vt:lpstr>
      <vt:lpstr>Arial</vt:lpstr>
      <vt:lpstr>Calibri</vt:lpstr>
      <vt:lpstr>Courier New</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深度強化學習於多機器人系統學習與控制</dc:title>
  <dc:subject>學術演講心得報告</dc:subject>
  <dc:creator>演講報告</dc:creator>
  <cp:lastModifiedBy>李定城</cp:lastModifiedBy>
  <cp:revision>3</cp:revision>
  <dcterms:created xsi:type="dcterms:W3CDTF">2026-10-25T10:06:24Z</dcterms:created>
  <dcterms:modified xsi:type="dcterms:W3CDTF">2026-10-25T10:20:16Z</dcterms:modified>
</cp:coreProperties>
</file>