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5" r:id="rId5"/>
    <p:sldId id="260" r:id="rId6"/>
    <p:sldId id="261" r:id="rId7"/>
    <p:sldId id="263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6833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78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00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果園防猴系統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330450"/>
            <a:ext cx="2011680" cy="3657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485140" y="2521077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講者：卓世明　｜　大同大學資訊工程學系副教授兼系主任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2440" y="284480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日期：2026 年 10 月 13 日</a:t>
            </a:r>
            <a:endParaRPr lang="en-US" sz="1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3A3EF44-C656-47CB-81ED-D10137CAB042}"/>
              </a:ext>
            </a:extLst>
          </p:cNvPr>
          <p:cNvSpPr/>
          <p:nvPr/>
        </p:nvSpPr>
        <p:spPr>
          <a:xfrm>
            <a:off x="485140" y="3119122"/>
            <a:ext cx="7772400" cy="786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1400" dirty="0">
                <a:solidFill>
                  <a:srgbClr val="4A55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班級</a:t>
            </a:r>
            <a:r>
              <a:rPr lang="en-US" sz="1400" dirty="0">
                <a:solidFill>
                  <a:srgbClr val="4A55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zh-TW" altLang="en-US" sz="1400" dirty="0">
                <a:solidFill>
                  <a:srgbClr val="4A55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碩資工一甲</a:t>
            </a:r>
            <a:endParaRPr lang="en-US" altLang="zh-TW" sz="1400" dirty="0">
              <a:solidFill>
                <a:srgbClr val="4A5568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>
              <a:buNone/>
            </a:pPr>
            <a:r>
              <a:rPr lang="zh-TW" altLang="en-US" sz="1400" dirty="0">
                <a:solidFill>
                  <a:srgbClr val="4A5568"/>
                </a:solidFill>
                <a:latin typeface="Microsoft JhengHei" pitchFamily="34" charset="0"/>
                <a:ea typeface="Microsoft JhengHei" pitchFamily="34" charset="-122"/>
              </a:rPr>
              <a:t>姓名：李定城</a:t>
            </a:r>
            <a:endParaRPr lang="en-US" altLang="zh-TW" sz="1400" dirty="0">
              <a:solidFill>
                <a:srgbClr val="4A5568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0" indent="0">
              <a:buNone/>
            </a:pPr>
            <a:r>
              <a:rPr lang="zh-TW" altLang="en-US" sz="1400" dirty="0">
                <a:solidFill>
                  <a:srgbClr val="4A5568"/>
                </a:solidFill>
                <a:latin typeface="Microsoft JhengHei" pitchFamily="34" charset="0"/>
                <a:ea typeface="Microsoft JhengHei" pitchFamily="34" charset="-122"/>
              </a:rPr>
              <a:t>學號：１１５６３１１２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2400" b="1" dirty="0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r>
              <a:rPr lang="en-US" sz="2400" b="1" dirty="0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、簡介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097280" cy="3657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05434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</a:rPr>
              <a:t>本場講座由講師針對「</a:t>
            </a:r>
            <a:r>
              <a:rPr lang="en-US" altLang="zh-TW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</a:rPr>
              <a:t>AI</a:t>
            </a:r>
            <a:r>
              <a:rPr lang="zh-TW" alt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</a:rPr>
              <a:t>果園防猴系統」的研究與實務應用進行深入教學分享，引導研究生理解如何將軟硬體閉環系統轉化為學術論文。講師依序剖析從初代實驗室模擬、二代宜蘭果園強化學習雷射驅離，到第三代雙光熱成像與無人機空中驅趕的演進架構與實測數據，並傳授碩博士論文題目的收斂、控制變因與驗證心法。</a:t>
            </a:r>
            <a:endParaRPr lang="en-US" sz="1400" dirty="0">
              <a:solidFill>
                <a:srgbClr val="2D3748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E6423FE1-6D2E-4123-835E-540D7E1846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045845"/>
              </p:ext>
            </p:extLst>
          </p:nvPr>
        </p:nvGraphicFramePr>
        <p:xfrm>
          <a:off x="752475" y="2573020"/>
          <a:ext cx="7639050" cy="188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9525">
                  <a:extLst>
                    <a:ext uri="{9D8B030D-6E8A-4147-A177-3AD203B41FA5}">
                      <a16:colId xmlns:a16="http://schemas.microsoft.com/office/drawing/2014/main" val="654850588"/>
                    </a:ext>
                  </a:extLst>
                </a:gridCol>
                <a:gridCol w="3819525">
                  <a:extLst>
                    <a:ext uri="{9D8B030D-6E8A-4147-A177-3AD203B41FA5}">
                      <a16:colId xmlns:a16="http://schemas.microsoft.com/office/drawing/2014/main" val="300037422"/>
                    </a:ext>
                  </a:extLst>
                </a:gridCol>
              </a:tblGrid>
              <a:tr h="691365">
                <a:tc>
                  <a:txBody>
                    <a:bodyPr/>
                    <a:lstStyle/>
                    <a:p>
                      <a:r>
                        <a:rPr lang="zh-TW" altLang="en-US" dirty="0"/>
                        <a:t>猴子數量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對果樹造成的損害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9276816"/>
                  </a:ext>
                </a:extLst>
              </a:tr>
              <a:tr h="1193315">
                <a:tc>
                  <a:txBody>
                    <a:bodyPr/>
                    <a:lstStyle/>
                    <a:p>
                      <a:r>
                        <a:rPr lang="zh-TW" altLang="en-US" dirty="0"/>
                        <a:t>台灣獼猴族群估計數量：約３０萬隻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獼猴單季對果樹造成的直接損害＞１５％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3194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2200" b="1" dirty="0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r>
              <a:rPr lang="en-US" sz="2200" b="1" dirty="0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、相關技術說明（一）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097280" cy="3657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2743200" cy="5029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05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感測層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</a:rPr>
              <a:t>整合 </a:t>
            </a:r>
            <a:r>
              <a:rPr lang="en-US" altLang="zh-TW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</a:rPr>
              <a:t>30 FPS </a:t>
            </a:r>
            <a:r>
              <a:rPr lang="zh-TW" alt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</a:rPr>
              <a:t>的可見光（</a:t>
            </a:r>
            <a:r>
              <a:rPr lang="en-US" altLang="zh-TW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</a:rPr>
              <a:t>RGB</a:t>
            </a:r>
            <a:r>
              <a:rPr lang="zh-TW" alt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</a:rPr>
              <a:t>）鏡頭與 </a:t>
            </a:r>
            <a:r>
              <a:rPr lang="en-US" altLang="zh-TW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</a:rPr>
              <a:t>8.5 FPS </a:t>
            </a:r>
            <a:r>
              <a:rPr lang="zh-TW" alt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</a:rPr>
              <a:t>的紅外線熱成像鏡頭，透過時間軸內插完成時空校準，突破夜間與樹蔭遮蔽限制。</a:t>
            </a:r>
            <a:endParaRPr lang="en-US" sz="1400" dirty="0">
              <a:solidFill>
                <a:srgbClr val="2D3748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337560" y="91440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/>
        </p:spPr>
      </p:sp>
      <p:sp>
        <p:nvSpPr>
          <p:cNvPr id="9" name="Shape 7"/>
          <p:cNvSpPr/>
          <p:nvPr/>
        </p:nvSpPr>
        <p:spPr>
          <a:xfrm>
            <a:off x="3337560" y="914400"/>
            <a:ext cx="2743200" cy="5029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005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邊緣運算層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0440" y="164592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</a:rPr>
              <a:t>採用 </a:t>
            </a:r>
            <a:r>
              <a:rPr lang="en-US" altLang="zh-TW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</a:rPr>
              <a:t>Jetson </a:t>
            </a:r>
            <a:r>
              <a:rPr lang="zh-TW" alt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</a:rPr>
              <a:t>邊緣運算平臺或樹莓派搭配輕量化模型（如 </a:t>
            </a:r>
            <a:r>
              <a:rPr lang="en-US" altLang="zh-TW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</a:rPr>
              <a:t>YOLOv5</a:t>
            </a:r>
            <a:r>
              <a:rPr lang="zh-TW" alt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</a:rPr>
              <a:t>、</a:t>
            </a:r>
            <a:r>
              <a:rPr lang="en-US" altLang="zh-TW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</a:rPr>
              <a:t>YOLOv12</a:t>
            </a:r>
            <a:r>
              <a:rPr lang="zh-TW" alt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</a:rPr>
              <a:t>、</a:t>
            </a:r>
            <a:r>
              <a:rPr lang="en-US" altLang="zh-TW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</a:rPr>
              <a:t>YOLOv26</a:t>
            </a:r>
            <a:r>
              <a:rPr lang="zh-TW" alt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</a:rPr>
              <a:t>），執行物件偵測與多目標追蹤（</a:t>
            </a:r>
            <a:r>
              <a:rPr lang="en-US" altLang="zh-TW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</a:rPr>
              <a:t>MOT</a:t>
            </a:r>
            <a:r>
              <a:rPr lang="zh-TW" alt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</a:rPr>
              <a:t>）。</a:t>
            </a:r>
            <a:endParaRPr lang="en-US" sz="1400" dirty="0">
              <a:solidFill>
                <a:srgbClr val="2D3748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17920" y="91440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914400"/>
            <a:ext cx="2743200" cy="5029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005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致動與驅離層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164592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</a:rPr>
              <a:t>透過 </a:t>
            </a:r>
            <a:r>
              <a:rPr lang="en-US" altLang="zh-TW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</a:rPr>
              <a:t>PWM </a:t>
            </a:r>
            <a:r>
              <a:rPr lang="zh-TW" alt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</a:rPr>
              <a:t>控制伺服馬達驅動雷射、地面高壓水砲（噴灑木醋液或辣椒精非致命液體），或結合自主巡航四軸無人機進行高空聲光氣味壓制。</a:t>
            </a:r>
            <a:endParaRPr lang="en-US" sz="1400" dirty="0">
              <a:solidFill>
                <a:srgbClr val="2D3748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2200" b="1" dirty="0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r>
              <a:rPr lang="en-US" sz="2200" b="1" dirty="0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en-US" sz="2200" b="1" dirty="0" err="1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相關技術說明</a:t>
            </a:r>
            <a:r>
              <a:rPr lang="en-US" sz="2200" b="1" dirty="0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</a:t>
            </a:r>
            <a:r>
              <a:rPr lang="zh-TW" altLang="en-US" sz="2200" b="1" dirty="0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r>
              <a:rPr lang="en-US" sz="2200" b="1" dirty="0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097280" cy="3657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2743200" cy="5029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05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物件偵測 YOLO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YOLOv5n → YOLOv12n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mAP 0.94（模擬）／0.923（真場）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三階段訓練：監督→半監督→增量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標註量減少約 60%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91440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/>
        </p:spPr>
      </p:sp>
      <p:sp>
        <p:nvSpPr>
          <p:cNvPr id="9" name="Shape 7"/>
          <p:cNvSpPr/>
          <p:nvPr/>
        </p:nvSpPr>
        <p:spPr>
          <a:xfrm>
            <a:off x="3337560" y="914400"/>
            <a:ext cx="2743200" cy="5029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005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座標轉換與雷射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0440" y="164592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像素 → 二次多項式校正 → 角度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650 nm 雷射、MQTT 下達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端到端延遲 38 ms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命中率 94%、RMSE ≈ 1.2 px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91440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914400"/>
            <a:ext cx="2743200" cy="5029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005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多目標追蹤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164592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BoT-SORT 優於 ByteTrack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平均壽命 1.88–2.13 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Re-ID 特徵分得開個體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減少 ID 交換、穩定追蹤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48008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2200" b="1" dirty="0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r>
              <a:rPr lang="en-US" sz="2200" b="1" dirty="0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en-US" sz="2200" b="1" dirty="0" err="1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相關技術說明</a:t>
            </a:r>
            <a:r>
              <a:rPr lang="en-US" sz="2200" b="1" dirty="0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</a:t>
            </a:r>
            <a:r>
              <a:rPr lang="zh-TW" altLang="en-US" sz="2200" b="1" dirty="0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r>
              <a:rPr lang="en-US" sz="2200" b="1" dirty="0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097280" cy="3657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EBF8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強化學習 DDPG：抗習慣化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6C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 ＝ 1.0×R驅離 ＋ 0.5×R安全 － 0.8×R習慣化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 天實測 IFRR：DDPG 88%　｜　隨機路徑 45%　｜　固定路徑 8%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停留時間 45→6.75 秒　｜　作物損害減少 75%　｜　回本期約 4 個月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0FFF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2767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熱影像融合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RGB＋熱成像雙鏡頭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解決樹叢漏判、強光誤判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熱影像找體溫、RGB 確認物種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288036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7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無人機空地協同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338328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地面固定站持續監看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無人機追出畫面目標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高分貝喊話／鞭炮驅趕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2200" b="1" dirty="0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r>
              <a:rPr lang="en-US" sz="2200" b="1" dirty="0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、心得報告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097280" cy="3657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72B73CA0-AAD1-4BBA-B434-C6DBD2ACED27}"/>
              </a:ext>
            </a:extLst>
          </p:cNvPr>
          <p:cNvSpPr/>
          <p:nvPr/>
        </p:nvSpPr>
        <p:spPr>
          <a:xfrm>
            <a:off x="457200" y="89027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77C980C8-4633-4825-9097-2DA4A809D611}"/>
              </a:ext>
            </a:extLst>
          </p:cNvPr>
          <p:cNvSpPr txBox="1"/>
          <p:nvPr/>
        </p:nvSpPr>
        <p:spPr>
          <a:xfrm>
            <a:off x="457200" y="889476"/>
            <a:ext cx="8229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</a:rPr>
              <a:t>本次講座講座讓我了解到學術研究與工程實務之間的連結，並且不用特別昂貴的設備就可以實現，講師特別強調這些設備都很便宜我們也都可以實現，例如：</a:t>
            </a:r>
            <a:r>
              <a:rPr lang="en-US" altLang="zh-TW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</a:rPr>
              <a:t>ESP32</a:t>
            </a:r>
            <a:r>
              <a:rPr lang="zh-TW" alt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</a:rPr>
              <a:t>、樹梅派、伺服馬達、紅外線等等，且每秒運行</a:t>
            </a:r>
            <a:r>
              <a:rPr lang="en-US" altLang="zh-TW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</a:rPr>
              <a:t>2</a:t>
            </a:r>
            <a:r>
              <a:rPr lang="zh-TW" alt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</a:rPr>
              <a:t>至</a:t>
            </a:r>
            <a:r>
              <a:rPr lang="en-US" altLang="zh-TW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</a:rPr>
              <a:t>5</a:t>
            </a:r>
            <a:r>
              <a:rPr lang="zh-TW" alt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</a:rPr>
              <a:t>張</a:t>
            </a:r>
            <a:r>
              <a:rPr lang="en-US" altLang="zh-TW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</a:rPr>
              <a:t>FPS</a:t>
            </a:r>
            <a:r>
              <a:rPr lang="zh-TW" alt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</a:rPr>
              <a:t>就可以實現。</a:t>
            </a:r>
            <a:endParaRPr lang="en-US" altLang="zh-TW" sz="1400" dirty="0">
              <a:solidFill>
                <a:srgbClr val="2D3748"/>
              </a:solidFill>
              <a:latin typeface="Microsoft JhengHei" pitchFamily="34" charset="0"/>
              <a:ea typeface="Microsoft JhengHei" pitchFamily="34" charset="-122"/>
            </a:endParaRPr>
          </a:p>
          <a:p>
            <a:endParaRPr lang="en-US" altLang="zh-TW" sz="1400" dirty="0">
              <a:solidFill>
                <a:srgbClr val="2D3748"/>
              </a:solidFill>
              <a:latin typeface="Microsoft JhengHei" pitchFamily="34" charset="0"/>
              <a:ea typeface="Microsoft JhengHei" pitchFamily="34" charset="-122"/>
            </a:endParaRPr>
          </a:p>
          <a:p>
            <a:r>
              <a:rPr lang="zh-TW" altLang="en-US" sz="14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</a:rPr>
              <a:t>讓我比較有想法的是迭代式研究法，研究不應該好高騖遠，而是先簡單的模型跑過一遍完整後，再來看看上一帶有哪些缺點或系統上的限制，將其作為下一篇論文的起點，其中講師這次報告就有提到他們目前做出了三篇論文且第四篇、第五篇還在繼續製作中。此外，在面對保育法規與農民損失的衝突時，如何設計出非致命性且有效驅趕猴子的防禦手段，也展現了工程技術在環境與人道上的價值。</a:t>
            </a:r>
            <a:endParaRPr lang="en-US" altLang="zh-TW" sz="1400" dirty="0">
              <a:solidFill>
                <a:srgbClr val="2D3748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2400" b="1" dirty="0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</a:t>
            </a:r>
            <a:r>
              <a:rPr lang="en-US" sz="2400" b="1" dirty="0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、關鍵字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097280" cy="3657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EBF8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果園防猴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37560" y="109728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EBF8FF"/>
          </a:solidFill>
          <a:ln/>
        </p:spPr>
      </p:sp>
      <p:sp>
        <p:nvSpPr>
          <p:cNvPr id="7" name="Text 5"/>
          <p:cNvSpPr/>
          <p:nvPr/>
        </p:nvSpPr>
        <p:spPr>
          <a:xfrm>
            <a:off x="342900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物件偵測（YOLO）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09728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EBF8FF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多目標追蹤（BoT-SORT）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F0FFF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57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強化學習（DDPG）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37560" y="192024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F0FFF4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2057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抗習慣化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192024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F0FFF4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2057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雷射驅離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EBF8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880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熱影像融合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37560" y="274320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EBF8FF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2880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邊緣運算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17920" y="274320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EBF8FF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2880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閉迴路系統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56616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F0FFF4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703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碩士論文方法論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2200" b="1" dirty="0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</a:t>
            </a:r>
            <a:r>
              <a:rPr lang="en-US" sz="2200" b="1" dirty="0">
                <a:solidFill>
                  <a:srgbClr val="1A36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、參考文獻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097280" cy="3657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[1] Cho et al. (2025). AI real-time image recognition combined with laser deterrence for orchard monkey prevention. Engineering Proceedings.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[2] Cho et al. (2025). Anti-habituation laser deterrence with multi-object tracking and RL. Computers, Materials &amp; Continua (SCI Q2).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[3] 卓世明（2026/10/13）。AI 果園防猴系統：從兩篇論文看碩士研究怎麼做［講座投影片］。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[4] Redmon et al. (2016). You only look once: Unified, real-time object detection. CVPR.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[5] Lillicrap et al. (2016). Continuous control with deep reinforcement learning. ICLR.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[6] Aharon et al. (2022). BoT-SORT: Robust associations multi-pedestrian tracking. arXiv.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783</Words>
  <Application>Microsoft Office PowerPoint</Application>
  <PresentationFormat>如螢幕大小 (16:9)</PresentationFormat>
  <Paragraphs>78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果園防猴系統｜講座心得報告</dc:title>
  <dc:subject>PptxGenJS Presentation</dc:subject>
  <dc:creator>講座心得報告</dc:creator>
  <cp:lastModifiedBy>user</cp:lastModifiedBy>
  <cp:revision>5</cp:revision>
  <dcterms:created xsi:type="dcterms:W3CDTF">2026-10-17T09:31:31Z</dcterms:created>
  <dcterms:modified xsi:type="dcterms:W3CDTF">2026-10-17T10:07:06Z</dcterms:modified>
</cp:coreProperties>
</file>